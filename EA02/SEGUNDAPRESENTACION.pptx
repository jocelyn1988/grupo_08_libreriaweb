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0" r:id="rId4"/>
    <p:sldId id="260" r:id="rId5"/>
    <p:sldId id="258" r:id="rId6"/>
    <p:sldId id="264" r:id="rId7"/>
    <p:sldId id="266" r:id="rId8"/>
    <p:sldId id="267" r:id="rId9"/>
    <p:sldId id="261" r:id="rId10"/>
    <p:sldId id="259" r:id="rId11"/>
    <p:sldId id="268" r:id="rId12"/>
    <p:sldId id="271" r:id="rId13"/>
    <p:sldId id="272" r:id="rId14"/>
    <p:sldId id="265" r:id="rId15"/>
  </p:sldIdLst>
  <p:sldSz cx="12192000" cy="6858000"/>
  <p:notesSz cx="6858000" cy="9144000"/>
  <p:embeddedFontLst>
    <p:embeddedFont>
      <p:font typeface="Cambria" panose="02040503050406030204" pitchFamily="18" charset="0"/>
      <p:regular r:id="rId17"/>
      <p:bold r:id="rId18"/>
      <p:italic r:id="rId19"/>
      <p:boldItalic r:id="rId20"/>
    </p:embeddedFont>
    <p:embeddedFont>
      <p:font typeface="Gill Sans" panose="020B0604020202020204" charset="0"/>
      <p:regular r:id="rId21"/>
      <p:bold r:id="rId22"/>
    </p:embeddedFont>
    <p:embeddedFont>
      <p:font typeface="Impact" panose="020B0806030902050204" pitchFamily="34" charset="0"/>
      <p:regular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jd9SYAVMPeUB3SGwn1puytu+MN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98D1"/>
    <a:srgbClr val="CCCCFF"/>
    <a:srgbClr val="FF99FF"/>
    <a:srgbClr val="00FFFF"/>
    <a:srgbClr val="99CDFF"/>
    <a:srgbClr val="01FFCD"/>
    <a:srgbClr val="FEFF99"/>
    <a:srgbClr val="CFBFC9"/>
    <a:srgbClr val="F3F3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505C59E-0678-4586-86DD-07CB2BC6AF1A}">
  <a:tblStyle styleId="{8505C59E-0678-4586-86DD-07CB2BC6AF1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30BE6A04-F76C-7937-B719-D11E3E539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>
            <a:extLst>
              <a:ext uri="{FF2B5EF4-FFF2-40B4-BE49-F238E27FC236}">
                <a16:creationId xmlns:a16="http://schemas.microsoft.com/office/drawing/2014/main" id="{9DAE2349-5F74-7D56-FCED-8E3C40AA91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:notes">
            <a:extLst>
              <a:ext uri="{FF2B5EF4-FFF2-40B4-BE49-F238E27FC236}">
                <a16:creationId xmlns:a16="http://schemas.microsoft.com/office/drawing/2014/main" id="{20FF7EE5-DC3D-4E1C-D41E-B042E9B9D7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20152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6D6CD4A4-327D-8708-91B8-17C7F6445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>
            <a:extLst>
              <a:ext uri="{FF2B5EF4-FFF2-40B4-BE49-F238E27FC236}">
                <a16:creationId xmlns:a16="http://schemas.microsoft.com/office/drawing/2014/main" id="{EC724DB6-A66F-971C-5EAD-A65FFAD6B4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:notes">
            <a:extLst>
              <a:ext uri="{FF2B5EF4-FFF2-40B4-BE49-F238E27FC236}">
                <a16:creationId xmlns:a16="http://schemas.microsoft.com/office/drawing/2014/main" id="{8BDCE7B8-BC4A-384B-B394-0BB625878E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94329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>
          <a:extLst>
            <a:ext uri="{FF2B5EF4-FFF2-40B4-BE49-F238E27FC236}">
              <a16:creationId xmlns:a16="http://schemas.microsoft.com/office/drawing/2014/main" id="{479C13AC-69AB-A1CC-6A2B-4AD28C951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>
            <a:extLst>
              <a:ext uri="{FF2B5EF4-FFF2-40B4-BE49-F238E27FC236}">
                <a16:creationId xmlns:a16="http://schemas.microsoft.com/office/drawing/2014/main" id="{AA10E2B3-5CE5-01E1-0413-7E7D95188D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5:notes">
            <a:extLst>
              <a:ext uri="{FF2B5EF4-FFF2-40B4-BE49-F238E27FC236}">
                <a16:creationId xmlns:a16="http://schemas.microsoft.com/office/drawing/2014/main" id="{FE9E5BD0-B230-06CD-0F39-A0CC0135AA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742524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42A97711-4630-EAC6-72FE-88714C7D6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>
            <a:extLst>
              <a:ext uri="{FF2B5EF4-FFF2-40B4-BE49-F238E27FC236}">
                <a16:creationId xmlns:a16="http://schemas.microsoft.com/office/drawing/2014/main" id="{F3F1CFB5-2E33-3B5B-4278-0176EF90AD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:notes">
            <a:extLst>
              <a:ext uri="{FF2B5EF4-FFF2-40B4-BE49-F238E27FC236}">
                <a16:creationId xmlns:a16="http://schemas.microsoft.com/office/drawing/2014/main" id="{0870EDC4-300F-1BFC-4415-02D37238F1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54437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361659C6-59F9-DB69-E2AE-B824FD3A2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>
            <a:extLst>
              <a:ext uri="{FF2B5EF4-FFF2-40B4-BE49-F238E27FC236}">
                <a16:creationId xmlns:a16="http://schemas.microsoft.com/office/drawing/2014/main" id="{B1343687-9EBA-9099-DDA6-6BCAB2135C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:notes">
            <a:extLst>
              <a:ext uri="{FF2B5EF4-FFF2-40B4-BE49-F238E27FC236}">
                <a16:creationId xmlns:a16="http://schemas.microsoft.com/office/drawing/2014/main" id="{53F23FF8-A662-B008-21DC-CF91870F58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70682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CBEBF586-369B-90E3-11A9-2FB9AF2BC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>
            <a:extLst>
              <a:ext uri="{FF2B5EF4-FFF2-40B4-BE49-F238E27FC236}">
                <a16:creationId xmlns:a16="http://schemas.microsoft.com/office/drawing/2014/main" id="{975443B8-D536-4169-5E79-38293B1B4A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:notes">
            <a:extLst>
              <a:ext uri="{FF2B5EF4-FFF2-40B4-BE49-F238E27FC236}">
                <a16:creationId xmlns:a16="http://schemas.microsoft.com/office/drawing/2014/main" id="{3E630941-BF27-4368-4A2C-26B2321D53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35014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bg>
      <p:bgPr>
        <a:solidFill>
          <a:schemeClr val="accen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 title="scalloped circle"/>
          <p:cNvSpPr/>
          <p:nvPr/>
        </p:nvSpPr>
        <p:spPr>
          <a:xfrm>
            <a:off x="3557016" y="630936"/>
            <a:ext cx="5235575" cy="5229225"/>
          </a:xfrm>
          <a:custGeom>
            <a:avLst/>
            <a:gdLst/>
            <a:ahLst/>
            <a:cxnLst/>
            <a:rect l="l" t="t" r="r" b="b"/>
            <a:pathLst>
              <a:path w="3298" h="3294" extrusionOk="0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" name="Google Shape;15;p12"/>
          <p:cNvSpPr txBox="1"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0"/>
              <a:buFont typeface="Impact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 sz="2000" b="1" i="0" cap="none">
                <a:solidFill>
                  <a:schemeClr val="dk2"/>
                </a:solidFill>
              </a:defRPr>
            </a:lvl1pPr>
            <a:lvl2pPr lvl="1" algn="ctr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dt" idx="10"/>
          </p:nvPr>
        </p:nvSpPr>
        <p:spPr>
          <a:xfrm>
            <a:off x="1078523" y="6375679"/>
            <a:ext cx="2329722" cy="34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5E04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ftr" idx="11"/>
          </p:nvPr>
        </p:nvSpPr>
        <p:spPr>
          <a:xfrm>
            <a:off x="4180332" y="6375679"/>
            <a:ext cx="4114800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5E04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9067218" y="6375679"/>
            <a:ext cx="2329723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sp>
        <p:nvSpPr>
          <p:cNvPr id="20" name="Google Shape;20;p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6pPr>
            <a:lvl7pPr marL="3200400" lvl="6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8pPr>
            <a:lvl9pPr marL="4114800" lvl="8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1257300" y="2286000"/>
            <a:ext cx="4800600" cy="3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6pPr>
            <a:lvl7pPr marL="3200400" lvl="6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8pPr>
            <a:lvl9pPr marL="4114800" lvl="8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2"/>
          </p:nvPr>
        </p:nvSpPr>
        <p:spPr>
          <a:xfrm>
            <a:off x="6647796" y="2286000"/>
            <a:ext cx="4800600" cy="3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6pPr>
            <a:lvl7pPr marL="3200400" lvl="6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8pPr>
            <a:lvl9pPr marL="4114800" lvl="8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cabezado de sección" type="secHead">
  <p:cSld name="SECTION_HEADER">
    <p:bg>
      <p:bgPr>
        <a:solidFill>
          <a:schemeClr val="dk2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400"/>
              <a:buFont typeface="Impact"/>
              <a:buNone/>
              <a:defRPr sz="84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 sz="2000" b="1" i="0" cap="none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3236546" y="6375679"/>
            <a:ext cx="1493947" cy="34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5279064" y="6375679"/>
            <a:ext cx="4114800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9942434" y="6375679"/>
            <a:ext cx="1487566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grpSp>
        <p:nvGrpSpPr>
          <p:cNvPr id="40" name="Google Shape;40;p15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41" name="Google Shape;41;p15" title="left scallop shape"/>
            <p:cNvSpPr/>
            <p:nvPr/>
          </p:nvSpPr>
          <p:spPr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l" t="t" r="r" b="b"/>
              <a:pathLst>
                <a:path w="1773" h="4320" extrusionOk="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42" name="Google Shape;42;p15" title="left scallop inline"/>
            <p:cNvSpPr/>
            <p:nvPr/>
          </p:nvSpPr>
          <p:spPr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l" t="t" r="r" b="b"/>
              <a:pathLst>
                <a:path w="1037" h="4320" extrusionOk="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8"/>
          <p:cNvSpPr txBox="1"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 sz="19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 sz="1900" b="1"/>
            </a:lvl2pPr>
            <a:lvl3pPr marL="1371600" lvl="2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body" idx="2"/>
          </p:nvPr>
        </p:nvSpPr>
        <p:spPr>
          <a:xfrm>
            <a:off x="1257300" y="2909102"/>
            <a:ext cx="4800600" cy="2996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6pPr>
            <a:lvl7pPr marL="3200400" lvl="6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8pPr>
            <a:lvl9pPr marL="4114800" lvl="8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3"/>
          </p:nvPr>
        </p:nvSpPr>
        <p:spPr>
          <a:xfrm>
            <a:off x="6633864" y="2199633"/>
            <a:ext cx="4800600" cy="632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 sz="19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 sz="1900" b="1"/>
            </a:lvl2pPr>
            <a:lvl3pPr marL="1371600" lvl="2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body" idx="4"/>
          </p:nvPr>
        </p:nvSpPr>
        <p:spPr>
          <a:xfrm>
            <a:off x="6633864" y="2909102"/>
            <a:ext cx="4800600" cy="2996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6pPr>
            <a:lvl7pPr marL="3200400" lvl="6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8pPr>
            <a:lvl9pPr marL="4114800" lvl="8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dt" idx="10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8"/>
          <p:cNvSpPr txBox="1">
            <a:spLocks noGrp="1"/>
          </p:cNvSpPr>
          <p:nvPr>
            <p:ph type="ftr" idx="11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sldNum" idx="12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9"/>
          <p:cNvSpPr txBox="1"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9"/>
          <p:cNvSpPr txBox="1">
            <a:spLocks noGrp="1"/>
          </p:cNvSpPr>
          <p:nvPr>
            <p:ph type="dt" idx="10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ftr" idx="11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sldNum" idx="12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0"/>
          <p:cNvSpPr txBox="1">
            <a:spLocks noGrp="1"/>
          </p:cNvSpPr>
          <p:nvPr>
            <p:ph type="dt" idx="10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ftr" idx="11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sldNum" idx="12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ido con título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 title="right scallop background shape"/>
          <p:cNvSpPr/>
          <p:nvPr/>
        </p:nvSpPr>
        <p:spPr>
          <a:xfrm>
            <a:off x="7389812" y="0"/>
            <a:ext cx="4802188" cy="6858000"/>
          </a:xfrm>
          <a:custGeom>
            <a:avLst/>
            <a:gdLst/>
            <a:ahLst/>
            <a:cxnLst/>
            <a:rect l="l" t="t" r="r" b="b"/>
            <a:pathLst>
              <a:path w="3025" h="4320" extrusionOk="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63" name="Google Shape;63;p21"/>
          <p:cNvSpPr txBox="1"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Gill Sans"/>
              <a:buNone/>
              <a:defRPr sz="1900" b="1" i="0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body" idx="1"/>
          </p:nvPr>
        </p:nvSpPr>
        <p:spPr>
          <a:xfrm>
            <a:off x="765051" y="920377"/>
            <a:ext cx="6158418" cy="498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55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  <a:defRPr sz="2000"/>
            </a:lvl6pPr>
            <a:lvl7pPr marL="3200400" lvl="6" indent="-355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 sz="2000"/>
            </a:lvl7pPr>
            <a:lvl8pPr marL="3657600" lvl="7" indent="-355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  <a:defRPr sz="2000"/>
            </a:lvl8pPr>
            <a:lvl9pPr marL="4114800" lvl="8" indent="-355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body" idx="2"/>
          </p:nvPr>
        </p:nvSpPr>
        <p:spPr>
          <a:xfrm>
            <a:off x="8337885" y="1741336"/>
            <a:ext cx="3092115" cy="416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2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dt" idx="10"/>
          </p:nvPr>
        </p:nvSpPr>
        <p:spPr>
          <a:xfrm>
            <a:off x="765051" y="6375679"/>
            <a:ext cx="1233355" cy="34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ftr" idx="11"/>
          </p:nvPr>
        </p:nvSpPr>
        <p:spPr>
          <a:xfrm>
            <a:off x="2103620" y="6375679"/>
            <a:ext cx="3482179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1"/>
          <p:cNvSpPr txBox="1">
            <a:spLocks noGrp="1"/>
          </p:cNvSpPr>
          <p:nvPr>
            <p:ph type="sldNum" idx="12"/>
          </p:nvPr>
        </p:nvSpPr>
        <p:spPr>
          <a:xfrm>
            <a:off x="5691014" y="6375679"/>
            <a:ext cx="1232456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sp>
        <p:nvSpPr>
          <p:cNvPr id="69" name="Google Shape;69;p2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n con título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2"/>
          <p:cNvSpPr>
            <a:spLocks noGrp="1"/>
          </p:cNvSpPr>
          <p:nvPr>
            <p:ph type="pic" idx="2"/>
          </p:nvPr>
        </p:nvSpPr>
        <p:spPr>
          <a:xfrm>
            <a:off x="283464" y="0"/>
            <a:ext cx="7355585" cy="6857999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2" title="right scallop background shape"/>
          <p:cNvSpPr/>
          <p:nvPr/>
        </p:nvSpPr>
        <p:spPr>
          <a:xfrm>
            <a:off x="7389812" y="0"/>
            <a:ext cx="4802188" cy="6858000"/>
          </a:xfrm>
          <a:custGeom>
            <a:avLst/>
            <a:gdLst/>
            <a:ahLst/>
            <a:cxnLst/>
            <a:rect l="l" t="t" r="r" b="b"/>
            <a:pathLst>
              <a:path w="3025" h="4320" extrusionOk="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73" name="Google Shape;73;p2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Gill Sans"/>
              <a:buNone/>
              <a:defRPr sz="1900" b="1" i="0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body" idx="1"/>
          </p:nvPr>
        </p:nvSpPr>
        <p:spPr>
          <a:xfrm>
            <a:off x="8337883" y="1741336"/>
            <a:ext cx="3092117" cy="416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2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dt" idx="10"/>
          </p:nvPr>
        </p:nvSpPr>
        <p:spPr>
          <a:xfrm>
            <a:off x="765950" y="6375679"/>
            <a:ext cx="1232456" cy="34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ftr" idx="11"/>
          </p:nvPr>
        </p:nvSpPr>
        <p:spPr>
          <a:xfrm>
            <a:off x="2103621" y="6375679"/>
            <a:ext cx="3482178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sldNum" idx="12"/>
          </p:nvPr>
        </p:nvSpPr>
        <p:spPr>
          <a:xfrm>
            <a:off x="5687568" y="6375679"/>
            <a:ext cx="1234440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3"/>
          <p:cNvSpPr txBox="1"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body" idx="1"/>
          </p:nvPr>
        </p:nvSpPr>
        <p:spPr>
          <a:xfrm rot="5400000">
            <a:off x="4544044" y="-1006365"/>
            <a:ext cx="3593591" cy="10178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6pPr>
            <a:lvl7pPr marL="3200400" lvl="6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8pPr>
            <a:lvl9pPr marL="4114800" lvl="8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dt" idx="10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ftr" idx="11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3"/>
          <p:cNvSpPr txBox="1">
            <a:spLocks noGrp="1"/>
          </p:cNvSpPr>
          <p:nvPr>
            <p:ph type="sldNum" idx="12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"/>
          <p:cNvSpPr txBox="1">
            <a:spLocks noGrp="1"/>
          </p:cNvSpPr>
          <p:nvPr>
            <p:ph type="title"/>
          </p:nvPr>
        </p:nvSpPr>
        <p:spPr>
          <a:xfrm rot="5400000">
            <a:off x="8012185" y="2436522"/>
            <a:ext cx="5600404" cy="1492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4"/>
          <p:cNvSpPr txBox="1">
            <a:spLocks noGrp="1"/>
          </p:cNvSpPr>
          <p:nvPr>
            <p:ph type="body" idx="1"/>
          </p:nvPr>
        </p:nvSpPr>
        <p:spPr>
          <a:xfrm rot="5400000">
            <a:off x="2653390" y="-1013705"/>
            <a:ext cx="5600405" cy="8392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6pPr>
            <a:lvl7pPr marL="3200400" lvl="6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8pPr>
            <a:lvl9pPr marL="4114800" lvl="8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24"/>
          <p:cNvSpPr txBox="1">
            <a:spLocks noGrp="1"/>
          </p:cNvSpPr>
          <p:nvPr>
            <p:ph type="dt" idx="10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4"/>
          <p:cNvSpPr txBox="1">
            <a:spLocks noGrp="1"/>
          </p:cNvSpPr>
          <p:nvPr>
            <p:ph type="ftr" idx="11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4"/>
          <p:cNvSpPr txBox="1">
            <a:spLocks noGrp="1"/>
          </p:cNvSpPr>
          <p:nvPr>
            <p:ph type="sldNum" idx="12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100"/>
              <a:buFont typeface="Impact"/>
              <a:buNone/>
              <a:defRPr sz="51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ill Sans"/>
              <a:buChar char="–"/>
              <a:defRPr sz="18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175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ill Sans"/>
              <a:buChar char="–"/>
              <a:defRPr sz="14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175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175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ill Sans"/>
              <a:buChar char="–"/>
              <a:defRPr sz="14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175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175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ill Sans"/>
              <a:buChar char="–"/>
              <a:defRPr sz="14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175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dt" idx="10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sldNum" idx="12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sp>
        <p:nvSpPr>
          <p:cNvPr id="11" name="Google Shape;11;p11" title="Left scallop edge"/>
          <p:cNvSpPr/>
          <p:nvPr/>
        </p:nvSpPr>
        <p:spPr>
          <a:xfrm>
            <a:off x="0" y="0"/>
            <a:ext cx="885825" cy="6858000"/>
          </a:xfrm>
          <a:custGeom>
            <a:avLst/>
            <a:gdLst/>
            <a:ahLst/>
            <a:cxnLst/>
            <a:rect l="l" t="t" r="r" b="b"/>
            <a:pathLst>
              <a:path w="558" h="4320" extrusionOk="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" name="Google Shape;12;p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100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3" name="Google Shape;113;p1"/>
          <p:cNvSpPr txBox="1">
            <a:spLocks noGrp="1"/>
          </p:cNvSpPr>
          <p:nvPr>
            <p:ph type="ctrTitle"/>
          </p:nvPr>
        </p:nvSpPr>
        <p:spPr>
          <a:xfrm>
            <a:off x="6888190" y="5909187"/>
            <a:ext cx="2699879" cy="578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Impact"/>
              <a:buNone/>
            </a:pPr>
            <a:r>
              <a:rPr lang="es-MX" sz="1200" dirty="0">
                <a:latin typeface="+mj-lt"/>
                <a:ea typeface="Calibri"/>
                <a:cs typeface="Calibri"/>
                <a:sym typeface="Calibri"/>
              </a:rPr>
              <a:t>EXPERIENCIA 2</a:t>
            </a:r>
            <a:br>
              <a:rPr lang="es-MX" sz="1200" dirty="0">
                <a:latin typeface="+mj-lt"/>
                <a:ea typeface="Calibri"/>
                <a:cs typeface="Calibri"/>
                <a:sym typeface="Calibri"/>
              </a:rPr>
            </a:br>
            <a:r>
              <a:rPr lang="es-MX" sz="1200" dirty="0">
                <a:latin typeface="+mj-lt"/>
                <a:ea typeface="Calibri"/>
                <a:cs typeface="Calibri"/>
                <a:sym typeface="Calibri"/>
              </a:rPr>
              <a:t>FECHA DE ENTREGA: 28-05-2026</a:t>
            </a:r>
            <a:endParaRPr sz="1200" dirty="0">
              <a:latin typeface="+mj-lt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0" y="0"/>
            <a:ext cx="4272784" cy="6858000"/>
          </a:xfrm>
          <a:custGeom>
            <a:avLst/>
            <a:gdLst/>
            <a:ahLst/>
            <a:cxnLst/>
            <a:rect l="l" t="t" r="r" b="b"/>
            <a:pathLst>
              <a:path w="4272784" h="6858000" extrusionOk="0">
                <a:moveTo>
                  <a:pt x="0" y="0"/>
                </a:moveTo>
                <a:lnTo>
                  <a:pt x="4082989" y="0"/>
                </a:lnTo>
                <a:lnTo>
                  <a:pt x="4088029" y="66675"/>
                </a:lnTo>
                <a:lnTo>
                  <a:pt x="4096426" y="122237"/>
                </a:lnTo>
                <a:lnTo>
                  <a:pt x="4106504" y="174625"/>
                </a:lnTo>
                <a:lnTo>
                  <a:pt x="4123300" y="217487"/>
                </a:lnTo>
                <a:lnTo>
                  <a:pt x="4140096" y="260350"/>
                </a:lnTo>
                <a:lnTo>
                  <a:pt x="4160251" y="296862"/>
                </a:lnTo>
                <a:lnTo>
                  <a:pt x="4180406" y="334962"/>
                </a:lnTo>
                <a:lnTo>
                  <a:pt x="4198882" y="369887"/>
                </a:lnTo>
                <a:lnTo>
                  <a:pt x="4217357" y="409575"/>
                </a:lnTo>
                <a:lnTo>
                  <a:pt x="4234153" y="450850"/>
                </a:lnTo>
                <a:lnTo>
                  <a:pt x="4249270" y="496887"/>
                </a:lnTo>
                <a:lnTo>
                  <a:pt x="4261027" y="546100"/>
                </a:lnTo>
                <a:lnTo>
                  <a:pt x="4269425" y="606425"/>
                </a:lnTo>
                <a:lnTo>
                  <a:pt x="4272784" y="673100"/>
                </a:lnTo>
                <a:lnTo>
                  <a:pt x="4269425" y="744537"/>
                </a:lnTo>
                <a:lnTo>
                  <a:pt x="4261027" y="801687"/>
                </a:lnTo>
                <a:lnTo>
                  <a:pt x="4249270" y="854075"/>
                </a:lnTo>
                <a:lnTo>
                  <a:pt x="4234153" y="901700"/>
                </a:lnTo>
                <a:lnTo>
                  <a:pt x="4217357" y="942975"/>
                </a:lnTo>
                <a:lnTo>
                  <a:pt x="4197202" y="981075"/>
                </a:lnTo>
                <a:lnTo>
                  <a:pt x="4177047" y="1017587"/>
                </a:lnTo>
                <a:lnTo>
                  <a:pt x="4156892" y="1055687"/>
                </a:lnTo>
                <a:lnTo>
                  <a:pt x="4138416" y="1095375"/>
                </a:lnTo>
                <a:lnTo>
                  <a:pt x="4119940" y="1136650"/>
                </a:lnTo>
                <a:lnTo>
                  <a:pt x="4104825" y="1182687"/>
                </a:lnTo>
                <a:lnTo>
                  <a:pt x="4094747" y="1235075"/>
                </a:lnTo>
                <a:lnTo>
                  <a:pt x="4084669" y="1295400"/>
                </a:lnTo>
                <a:lnTo>
                  <a:pt x="4082989" y="1363662"/>
                </a:lnTo>
                <a:lnTo>
                  <a:pt x="4084669" y="1431925"/>
                </a:lnTo>
                <a:lnTo>
                  <a:pt x="4094747" y="1492250"/>
                </a:lnTo>
                <a:lnTo>
                  <a:pt x="4104825" y="1544637"/>
                </a:lnTo>
                <a:lnTo>
                  <a:pt x="4119940" y="1589087"/>
                </a:lnTo>
                <a:lnTo>
                  <a:pt x="4138416" y="1631950"/>
                </a:lnTo>
                <a:lnTo>
                  <a:pt x="4156892" y="1671637"/>
                </a:lnTo>
                <a:lnTo>
                  <a:pt x="4177047" y="1708150"/>
                </a:lnTo>
                <a:lnTo>
                  <a:pt x="4197202" y="1743075"/>
                </a:lnTo>
                <a:lnTo>
                  <a:pt x="4217357" y="1782762"/>
                </a:lnTo>
                <a:lnTo>
                  <a:pt x="4234153" y="1824037"/>
                </a:lnTo>
                <a:lnTo>
                  <a:pt x="4249270" y="1870075"/>
                </a:lnTo>
                <a:lnTo>
                  <a:pt x="4261027" y="1922462"/>
                </a:lnTo>
                <a:lnTo>
                  <a:pt x="4269425" y="1982787"/>
                </a:lnTo>
                <a:lnTo>
                  <a:pt x="4272784" y="2051050"/>
                </a:lnTo>
                <a:lnTo>
                  <a:pt x="4269425" y="2119312"/>
                </a:lnTo>
                <a:lnTo>
                  <a:pt x="4261027" y="2179637"/>
                </a:lnTo>
                <a:lnTo>
                  <a:pt x="4249270" y="2232025"/>
                </a:lnTo>
                <a:lnTo>
                  <a:pt x="4234153" y="2278062"/>
                </a:lnTo>
                <a:lnTo>
                  <a:pt x="4217357" y="2319337"/>
                </a:lnTo>
                <a:lnTo>
                  <a:pt x="4197202" y="2359025"/>
                </a:lnTo>
                <a:lnTo>
                  <a:pt x="4177047" y="2395537"/>
                </a:lnTo>
                <a:lnTo>
                  <a:pt x="4156892" y="2433637"/>
                </a:lnTo>
                <a:lnTo>
                  <a:pt x="4138416" y="2471737"/>
                </a:lnTo>
                <a:lnTo>
                  <a:pt x="4119940" y="2513012"/>
                </a:lnTo>
                <a:lnTo>
                  <a:pt x="4104825" y="2560637"/>
                </a:lnTo>
                <a:lnTo>
                  <a:pt x="4094747" y="2613025"/>
                </a:lnTo>
                <a:lnTo>
                  <a:pt x="4084669" y="2671762"/>
                </a:lnTo>
                <a:lnTo>
                  <a:pt x="4082989" y="2741612"/>
                </a:lnTo>
                <a:lnTo>
                  <a:pt x="4084669" y="2809875"/>
                </a:lnTo>
                <a:lnTo>
                  <a:pt x="4094747" y="2868612"/>
                </a:lnTo>
                <a:lnTo>
                  <a:pt x="4104825" y="2922587"/>
                </a:lnTo>
                <a:lnTo>
                  <a:pt x="4119940" y="2967037"/>
                </a:lnTo>
                <a:lnTo>
                  <a:pt x="4138416" y="3009900"/>
                </a:lnTo>
                <a:lnTo>
                  <a:pt x="4156892" y="3046412"/>
                </a:lnTo>
                <a:lnTo>
                  <a:pt x="4177047" y="3084512"/>
                </a:lnTo>
                <a:lnTo>
                  <a:pt x="4197202" y="3121025"/>
                </a:lnTo>
                <a:lnTo>
                  <a:pt x="4217357" y="3160712"/>
                </a:lnTo>
                <a:lnTo>
                  <a:pt x="4234153" y="3201987"/>
                </a:lnTo>
                <a:lnTo>
                  <a:pt x="4249270" y="3248025"/>
                </a:lnTo>
                <a:lnTo>
                  <a:pt x="4261027" y="3300412"/>
                </a:lnTo>
                <a:lnTo>
                  <a:pt x="4269425" y="3360737"/>
                </a:lnTo>
                <a:lnTo>
                  <a:pt x="4272784" y="3427412"/>
                </a:lnTo>
                <a:lnTo>
                  <a:pt x="4269425" y="3497262"/>
                </a:lnTo>
                <a:lnTo>
                  <a:pt x="4261027" y="3557587"/>
                </a:lnTo>
                <a:lnTo>
                  <a:pt x="4249270" y="3609975"/>
                </a:lnTo>
                <a:lnTo>
                  <a:pt x="4234153" y="3656012"/>
                </a:lnTo>
                <a:lnTo>
                  <a:pt x="4217357" y="3697287"/>
                </a:lnTo>
                <a:lnTo>
                  <a:pt x="4197202" y="3736975"/>
                </a:lnTo>
                <a:lnTo>
                  <a:pt x="4156892" y="3811587"/>
                </a:lnTo>
                <a:lnTo>
                  <a:pt x="4138416" y="3848100"/>
                </a:lnTo>
                <a:lnTo>
                  <a:pt x="4119940" y="3890962"/>
                </a:lnTo>
                <a:lnTo>
                  <a:pt x="4104825" y="3935412"/>
                </a:lnTo>
                <a:lnTo>
                  <a:pt x="4094747" y="3987800"/>
                </a:lnTo>
                <a:lnTo>
                  <a:pt x="4084669" y="4048125"/>
                </a:lnTo>
                <a:lnTo>
                  <a:pt x="4082989" y="4116387"/>
                </a:lnTo>
                <a:lnTo>
                  <a:pt x="4084669" y="4186237"/>
                </a:lnTo>
                <a:lnTo>
                  <a:pt x="4094747" y="4244975"/>
                </a:lnTo>
                <a:lnTo>
                  <a:pt x="4104825" y="4297362"/>
                </a:lnTo>
                <a:lnTo>
                  <a:pt x="4119940" y="4343400"/>
                </a:lnTo>
                <a:lnTo>
                  <a:pt x="4138416" y="4386262"/>
                </a:lnTo>
                <a:lnTo>
                  <a:pt x="4156892" y="4424362"/>
                </a:lnTo>
                <a:lnTo>
                  <a:pt x="4197202" y="4498975"/>
                </a:lnTo>
                <a:lnTo>
                  <a:pt x="4217357" y="4537075"/>
                </a:lnTo>
                <a:lnTo>
                  <a:pt x="4234153" y="4579937"/>
                </a:lnTo>
                <a:lnTo>
                  <a:pt x="4249270" y="4625975"/>
                </a:lnTo>
                <a:lnTo>
                  <a:pt x="4261027" y="4678362"/>
                </a:lnTo>
                <a:lnTo>
                  <a:pt x="4269425" y="4738687"/>
                </a:lnTo>
                <a:lnTo>
                  <a:pt x="4272784" y="4806950"/>
                </a:lnTo>
                <a:lnTo>
                  <a:pt x="4269425" y="4875212"/>
                </a:lnTo>
                <a:lnTo>
                  <a:pt x="4261027" y="4935537"/>
                </a:lnTo>
                <a:lnTo>
                  <a:pt x="4249270" y="4987925"/>
                </a:lnTo>
                <a:lnTo>
                  <a:pt x="4234153" y="5033962"/>
                </a:lnTo>
                <a:lnTo>
                  <a:pt x="4217357" y="5075237"/>
                </a:lnTo>
                <a:lnTo>
                  <a:pt x="4197202" y="5114925"/>
                </a:lnTo>
                <a:lnTo>
                  <a:pt x="4177047" y="5149850"/>
                </a:lnTo>
                <a:lnTo>
                  <a:pt x="4156892" y="5186362"/>
                </a:lnTo>
                <a:lnTo>
                  <a:pt x="4138416" y="5226050"/>
                </a:lnTo>
                <a:lnTo>
                  <a:pt x="4119940" y="5268912"/>
                </a:lnTo>
                <a:lnTo>
                  <a:pt x="4104825" y="5313362"/>
                </a:lnTo>
                <a:lnTo>
                  <a:pt x="4094747" y="5365750"/>
                </a:lnTo>
                <a:lnTo>
                  <a:pt x="4084669" y="5426075"/>
                </a:lnTo>
                <a:lnTo>
                  <a:pt x="4082989" y="5494337"/>
                </a:lnTo>
                <a:lnTo>
                  <a:pt x="4084669" y="5562600"/>
                </a:lnTo>
                <a:lnTo>
                  <a:pt x="4094747" y="5622925"/>
                </a:lnTo>
                <a:lnTo>
                  <a:pt x="4104825" y="5675312"/>
                </a:lnTo>
                <a:lnTo>
                  <a:pt x="4119940" y="5721350"/>
                </a:lnTo>
                <a:lnTo>
                  <a:pt x="4138416" y="5762625"/>
                </a:lnTo>
                <a:lnTo>
                  <a:pt x="4156892" y="5802312"/>
                </a:lnTo>
                <a:lnTo>
                  <a:pt x="4177047" y="5840412"/>
                </a:lnTo>
                <a:lnTo>
                  <a:pt x="4197202" y="5876925"/>
                </a:lnTo>
                <a:lnTo>
                  <a:pt x="4217357" y="5915025"/>
                </a:lnTo>
                <a:lnTo>
                  <a:pt x="4234153" y="5956300"/>
                </a:lnTo>
                <a:lnTo>
                  <a:pt x="4249270" y="6003925"/>
                </a:lnTo>
                <a:lnTo>
                  <a:pt x="4261027" y="6056312"/>
                </a:lnTo>
                <a:lnTo>
                  <a:pt x="4269425" y="6113462"/>
                </a:lnTo>
                <a:lnTo>
                  <a:pt x="4272784" y="6183312"/>
                </a:lnTo>
                <a:lnTo>
                  <a:pt x="4269425" y="6251575"/>
                </a:lnTo>
                <a:lnTo>
                  <a:pt x="4261027" y="6311900"/>
                </a:lnTo>
                <a:lnTo>
                  <a:pt x="4249270" y="6361112"/>
                </a:lnTo>
                <a:lnTo>
                  <a:pt x="4234153" y="6407150"/>
                </a:lnTo>
                <a:lnTo>
                  <a:pt x="4217357" y="6448425"/>
                </a:lnTo>
                <a:lnTo>
                  <a:pt x="4198882" y="6488112"/>
                </a:lnTo>
                <a:lnTo>
                  <a:pt x="4180406" y="6523037"/>
                </a:lnTo>
                <a:lnTo>
                  <a:pt x="4160251" y="6561137"/>
                </a:lnTo>
                <a:lnTo>
                  <a:pt x="4140096" y="6597650"/>
                </a:lnTo>
                <a:lnTo>
                  <a:pt x="4123300" y="6640512"/>
                </a:lnTo>
                <a:lnTo>
                  <a:pt x="4106504" y="6683375"/>
                </a:lnTo>
                <a:lnTo>
                  <a:pt x="4096426" y="6735762"/>
                </a:lnTo>
                <a:lnTo>
                  <a:pt x="4088029" y="6791325"/>
                </a:lnTo>
                <a:lnTo>
                  <a:pt x="408298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16" name="Google Shape;11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9249" y="139896"/>
            <a:ext cx="3479727" cy="6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"/>
          <p:cNvSpPr txBox="1"/>
          <p:nvPr/>
        </p:nvSpPr>
        <p:spPr>
          <a:xfrm>
            <a:off x="5068651" y="782778"/>
            <a:ext cx="6338958" cy="2574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mpact"/>
              <a:buNone/>
            </a:pPr>
            <a:r>
              <a:rPr lang="es-MX" sz="4000" b="1" cap="none" dirty="0">
                <a:solidFill>
                  <a:schemeClr val="dk2"/>
                </a:solidFill>
                <a:latin typeface="+mj-lt"/>
                <a:ea typeface="Impact"/>
                <a:cs typeface="Impact"/>
                <a:sym typeface="Impact"/>
              </a:rPr>
              <a:t>SISTEMA DE GESTIÓN BIBLIOTECARIA</a:t>
            </a:r>
            <a:br>
              <a:rPr lang="es-MX" sz="4000" b="1" cap="none" dirty="0">
                <a:solidFill>
                  <a:schemeClr val="dk2"/>
                </a:solidFill>
                <a:latin typeface="+mj-lt"/>
                <a:ea typeface="Impact"/>
                <a:cs typeface="Impact"/>
                <a:sym typeface="Impact"/>
              </a:rPr>
            </a:br>
            <a:endParaRPr sz="4000" b="1" cap="none" dirty="0">
              <a:solidFill>
                <a:schemeClr val="dk2"/>
              </a:solidFill>
              <a:latin typeface="+mj-lt"/>
              <a:ea typeface="Impact"/>
              <a:cs typeface="Impact"/>
              <a:sym typeface="Impact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mpact"/>
              <a:buNone/>
            </a:pPr>
            <a:r>
              <a:rPr lang="es-MX" sz="4000" b="1" cap="none" dirty="0">
                <a:solidFill>
                  <a:schemeClr val="dk2"/>
                </a:solidFill>
                <a:latin typeface="+mj-lt"/>
                <a:ea typeface="Impact"/>
                <a:cs typeface="Impact"/>
                <a:sym typeface="Impact"/>
              </a:rPr>
              <a:t>UNILIB</a:t>
            </a:r>
            <a:endParaRPr dirty="0">
              <a:latin typeface="+mj-lt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0" y="877269"/>
            <a:ext cx="3946360" cy="253442"/>
          </a:xfrm>
          <a:prstGeom prst="homePlate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182875" bIns="0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s-MX" dirty="0">
                <a:solidFill>
                  <a:srgbClr val="FFFFFF"/>
                </a:solidFill>
                <a:latin typeface="+mj-lt"/>
                <a:ea typeface="Cambria"/>
                <a:cs typeface="Cambria"/>
                <a:sym typeface="Cambria"/>
              </a:rPr>
              <a:t>Ingeniería de Software</a:t>
            </a:r>
            <a:endParaRPr dirty="0">
              <a:solidFill>
                <a:schemeClr val="dk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 txBox="1">
            <a:spLocks noGrp="1"/>
          </p:cNvSpPr>
          <p:nvPr>
            <p:ph type="subTitle" idx="1"/>
          </p:nvPr>
        </p:nvSpPr>
        <p:spPr>
          <a:xfrm>
            <a:off x="868194" y="5057687"/>
            <a:ext cx="2101835" cy="1351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s-MX" sz="1050" cap="small" dirty="0">
                <a:latin typeface="+mj-lt"/>
                <a:ea typeface="Calibri"/>
                <a:cs typeface="Calibri"/>
                <a:sym typeface="Calibri"/>
              </a:rPr>
              <a:t>INTEGRANTES GRUPO 8</a:t>
            </a:r>
            <a:endParaRPr sz="1050" dirty="0">
              <a:latin typeface="+mj-lt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050" dirty="0">
              <a:latin typeface="+mj-lt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s-MX" sz="1050" dirty="0">
                <a:latin typeface="+mj-lt"/>
                <a:ea typeface="Calibri"/>
                <a:cs typeface="Calibri"/>
                <a:sym typeface="Calibri"/>
              </a:rPr>
              <a:t>JOCELYN CERDA</a:t>
            </a:r>
            <a:endParaRPr sz="1100" dirty="0">
              <a:latin typeface="+mj-lt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s-MX" sz="1050" dirty="0">
                <a:latin typeface="+mj-lt"/>
                <a:ea typeface="Calibri"/>
                <a:cs typeface="Calibri"/>
                <a:sym typeface="Calibri"/>
              </a:rPr>
              <a:t>JUAN OPAZO</a:t>
            </a:r>
            <a:endParaRPr sz="1100" dirty="0">
              <a:latin typeface="+mj-lt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s-MX" sz="1050" dirty="0">
                <a:latin typeface="+mj-lt"/>
                <a:ea typeface="Calibri"/>
                <a:cs typeface="Calibri"/>
                <a:sym typeface="Calibri"/>
              </a:rPr>
              <a:t>ESTER GONZÁLEZ</a:t>
            </a:r>
            <a:endParaRPr sz="1100" dirty="0">
              <a:latin typeface="+mj-lt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s-MX" sz="1050" dirty="0">
                <a:latin typeface="+mj-lt"/>
                <a:ea typeface="Calibri"/>
                <a:cs typeface="Calibri"/>
                <a:sym typeface="Calibri"/>
              </a:rPr>
              <a:t>DANIELA CASTILLO</a:t>
            </a:r>
            <a:endParaRPr sz="1100" dirty="0">
              <a:latin typeface="+mj-lt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s-MX" sz="1050" dirty="0">
                <a:latin typeface="+mj-lt"/>
                <a:ea typeface="Calibri"/>
                <a:cs typeface="Calibri"/>
                <a:sym typeface="Calibri"/>
              </a:rPr>
              <a:t>DANIEL MANZOR</a:t>
            </a:r>
            <a:endParaRPr sz="11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26" name="Google Shape;126;p2"/>
          <p:cNvCxnSpPr>
            <a:cxnSpLocks/>
          </p:cNvCxnSpPr>
          <p:nvPr/>
        </p:nvCxnSpPr>
        <p:spPr>
          <a:xfrm flipH="1">
            <a:off x="4834915" y="2370714"/>
            <a:ext cx="6501679" cy="0"/>
          </a:xfrm>
          <a:prstGeom prst="straightConnector1">
            <a:avLst/>
          </a:prstGeom>
          <a:noFill/>
          <a:ln w="222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7" name="Google Shape;127;p2"/>
          <p:cNvSpPr/>
          <p:nvPr/>
        </p:nvSpPr>
        <p:spPr>
          <a:xfrm rot="5400000">
            <a:off x="5774267" y="480446"/>
            <a:ext cx="643467" cy="12191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0" y="160420"/>
            <a:ext cx="3737930" cy="285413"/>
          </a:xfrm>
          <a:prstGeom prst="homePlate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182875" bIns="0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s-MX" sz="1400" dirty="0">
                <a:solidFill>
                  <a:srgbClr val="FFFFFF"/>
                </a:solidFill>
                <a:latin typeface="+mj-lt"/>
                <a:ea typeface="Cambria"/>
                <a:cs typeface="Cambria"/>
                <a:sym typeface="Cambria"/>
              </a:rPr>
              <a:t>INTRODUCCIÓN</a:t>
            </a:r>
            <a:endParaRPr sz="1100" dirty="0">
              <a:solidFill>
                <a:schemeClr val="dk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7857406" y="2908721"/>
            <a:ext cx="3555106" cy="2198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r>
              <a:rPr lang="es-MX" b="1" dirty="0">
                <a:solidFill>
                  <a:schemeClr val="accent1"/>
                </a:solidFill>
                <a:latin typeface="+mj-lt"/>
                <a:ea typeface="Gill Sans"/>
                <a:cs typeface="Gill Sans"/>
                <a:sym typeface="Gill Sans"/>
              </a:rPr>
              <a:t>Principales requerimientos</a:t>
            </a:r>
            <a:endParaRPr dirty="0">
              <a:latin typeface="+mj-lt"/>
            </a:endParaRPr>
          </a:p>
          <a:p>
            <a:pPr marL="228600" marR="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s-MX" b="1" dirty="0">
                <a:solidFill>
                  <a:srgbClr val="595959"/>
                </a:solidFill>
                <a:latin typeface="+mj-lt"/>
                <a:ea typeface="Gill Sans"/>
                <a:cs typeface="Gill Sans"/>
                <a:sym typeface="Gill Sans"/>
              </a:rPr>
              <a:t>Gestión de usuarios y control de acceso por roles</a:t>
            </a:r>
            <a:endParaRPr dirty="0">
              <a:latin typeface="+mj-lt"/>
            </a:endParaRPr>
          </a:p>
          <a:p>
            <a:pPr marL="228600" marR="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s-MX" b="1" dirty="0">
                <a:solidFill>
                  <a:srgbClr val="595959"/>
                </a:solidFill>
                <a:latin typeface="+mj-lt"/>
                <a:ea typeface="Gill Sans"/>
                <a:cs typeface="Gill Sans"/>
                <a:sym typeface="Gill Sans"/>
              </a:rPr>
              <a:t>Registro y administración de libros</a:t>
            </a:r>
            <a:endParaRPr dirty="0">
              <a:latin typeface="+mj-lt"/>
            </a:endParaRPr>
          </a:p>
          <a:p>
            <a:pPr marL="228600" marR="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s-MX" b="1" dirty="0">
                <a:solidFill>
                  <a:srgbClr val="595959"/>
                </a:solidFill>
                <a:latin typeface="+mj-lt"/>
                <a:ea typeface="Gill Sans"/>
                <a:cs typeface="Gill Sans"/>
                <a:sym typeface="Gill Sans"/>
              </a:rPr>
              <a:t>Gestión de préstamos y devoluciones</a:t>
            </a:r>
            <a:endParaRPr dirty="0">
              <a:latin typeface="+mj-lt"/>
            </a:endParaRPr>
          </a:p>
          <a:p>
            <a:pPr marL="228600" marR="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s-MX" b="1" dirty="0">
                <a:solidFill>
                  <a:srgbClr val="595959"/>
                </a:solidFill>
                <a:latin typeface="+mj-lt"/>
                <a:ea typeface="Gill Sans"/>
                <a:cs typeface="Gill Sans"/>
                <a:sym typeface="Gill Sans"/>
              </a:rPr>
              <a:t>Consulta de catálogo en línea</a:t>
            </a:r>
            <a:endParaRPr dirty="0">
              <a:latin typeface="+mj-lt"/>
            </a:endParaRPr>
          </a:p>
          <a:p>
            <a:pPr marL="228600" marR="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s-MX" b="1" dirty="0">
                <a:solidFill>
                  <a:srgbClr val="595959"/>
                </a:solidFill>
                <a:latin typeface="+mj-lt"/>
                <a:ea typeface="Gill Sans"/>
                <a:cs typeface="Gill Sans"/>
                <a:sym typeface="Gill Sans"/>
              </a:rPr>
              <a:t>Generación de reportes</a:t>
            </a:r>
            <a:endParaRPr dirty="0">
              <a:latin typeface="+mj-lt"/>
            </a:endParaRPr>
          </a:p>
        </p:txBody>
      </p:sp>
      <p:sp>
        <p:nvSpPr>
          <p:cNvPr id="125" name="Google Shape;125;p2"/>
          <p:cNvSpPr txBox="1">
            <a:spLocks noGrp="1"/>
          </p:cNvSpPr>
          <p:nvPr>
            <p:ph type="title"/>
          </p:nvPr>
        </p:nvSpPr>
        <p:spPr>
          <a:xfrm>
            <a:off x="4758995" y="476822"/>
            <a:ext cx="6653517" cy="1624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2400"/>
            </a:pPr>
            <a:r>
              <a:rPr lang="es-CL" sz="2400" dirty="0">
                <a:latin typeface="+mj-lt"/>
              </a:rPr>
              <a:t>La biblioteca de la Universidad UNILIB presenta procesos manuales que dificultan la gestión de préstamos, devoluciones y acceso a la información, generando ineficiencia en la atención de los usuarios.</a:t>
            </a:r>
            <a:endParaRPr sz="2400" dirty="0">
              <a:latin typeface="+mj-lt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EA63E3B2-CCBF-4C1F-8BC7-D12F2466BE5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l="19491" t="10145" r="8237" b="5089"/>
          <a:stretch>
            <a:fillRect/>
          </a:stretch>
        </p:blipFill>
        <p:spPr>
          <a:xfrm>
            <a:off x="0" y="1553402"/>
            <a:ext cx="7255592" cy="4645162"/>
          </a:xfrm>
          <a:prstGeom prst="rect">
            <a:avLst/>
          </a:prstGeom>
        </p:spPr>
      </p:pic>
      <p:sp>
        <p:nvSpPr>
          <p:cNvPr id="130" name="Google Shape;130;p2"/>
          <p:cNvSpPr txBox="1"/>
          <p:nvPr/>
        </p:nvSpPr>
        <p:spPr>
          <a:xfrm>
            <a:off x="4828860" y="2539948"/>
            <a:ext cx="2727639" cy="2116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r>
              <a:rPr lang="es-MX" b="1" dirty="0">
                <a:solidFill>
                  <a:schemeClr val="accent1"/>
                </a:solidFill>
                <a:latin typeface="+mj-lt"/>
                <a:ea typeface="Gill Sans"/>
                <a:cs typeface="Gill Sans"/>
                <a:sym typeface="Gill Sans"/>
              </a:rPr>
              <a:t>Alcance general del sistema</a:t>
            </a:r>
            <a:endParaRPr lang="es-MX" dirty="0">
              <a:latin typeface="+mj-lt"/>
            </a:endParaRPr>
          </a:p>
          <a:p>
            <a:endParaRPr lang="es-CL" dirty="0">
              <a:latin typeface="+mj-lt"/>
            </a:endParaRPr>
          </a:p>
          <a:p>
            <a:r>
              <a:rPr lang="es-CL" dirty="0"/>
              <a:t>Plataforma web orientada a la gestión de usuarios, libros y préstamos, considerando accesos diferenciados según el tipo de usuario.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45">
          <a:extLst>
            <a:ext uri="{FF2B5EF4-FFF2-40B4-BE49-F238E27FC236}">
              <a16:creationId xmlns:a16="http://schemas.microsoft.com/office/drawing/2014/main" id="{1A9B3229-657E-33DD-DE0A-2B56F996C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">
            <a:extLst>
              <a:ext uri="{FF2B5EF4-FFF2-40B4-BE49-F238E27FC236}">
                <a16:creationId xmlns:a16="http://schemas.microsoft.com/office/drawing/2014/main" id="{B77A12F6-542C-3A60-89B7-511E493922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7" name="Google Shape;147;p4">
            <a:extLst>
              <a:ext uri="{FF2B5EF4-FFF2-40B4-BE49-F238E27FC236}">
                <a16:creationId xmlns:a16="http://schemas.microsoft.com/office/drawing/2014/main" id="{DD84CDF7-2605-FCDB-82E1-42E9E06C2828}"/>
              </a:ext>
            </a:extLst>
          </p:cNvPr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" name="Google Shape;156;p5">
            <a:extLst>
              <a:ext uri="{FF2B5EF4-FFF2-40B4-BE49-F238E27FC236}">
                <a16:creationId xmlns:a16="http://schemas.microsoft.com/office/drawing/2014/main" id="{F40A6EDB-7109-EAA7-3523-D86353069DD5}"/>
              </a:ext>
            </a:extLst>
          </p:cNvPr>
          <p:cNvSpPr/>
          <p:nvPr/>
        </p:nvSpPr>
        <p:spPr>
          <a:xfrm>
            <a:off x="288756" y="161140"/>
            <a:ext cx="3737930" cy="285413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0" rIns="182875" bIns="0" anchor="ctr" anchorCtr="0">
            <a:noAutofit/>
          </a:bodyPr>
          <a:lstStyle/>
          <a:p>
            <a:pPr lvl="0" algn="r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  <a:buSzPts val="1400"/>
            </a:pPr>
            <a:r>
              <a:rPr lang="es-MX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DIAGRAMA DE CONTEXTO</a:t>
            </a:r>
            <a:endParaRPr lang="es-MX" sz="1100" dirty="0">
              <a:solidFill>
                <a:schemeClr val="lt1"/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3F62277-FFEB-3414-FD4D-E3B2FA78B8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06" t="15289" r="3366"/>
          <a:stretch>
            <a:fillRect/>
          </a:stretch>
        </p:blipFill>
        <p:spPr>
          <a:xfrm>
            <a:off x="1272716" y="607693"/>
            <a:ext cx="9930031" cy="5847551"/>
          </a:xfrm>
          <a:prstGeom prst="rect">
            <a:avLst/>
          </a:prstGeom>
          <a:ln w="9525">
            <a:solidFill>
              <a:schemeClr val="accent1"/>
            </a:solidFill>
            <a:prstDash val="lgDash"/>
          </a:ln>
        </p:spPr>
      </p:pic>
    </p:spTree>
    <p:extLst>
      <p:ext uri="{BB962C8B-B14F-4D97-AF65-F5344CB8AC3E}">
        <p14:creationId xmlns:p14="http://schemas.microsoft.com/office/powerpoint/2010/main" val="280092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"/>
          <p:cNvSpPr/>
          <p:nvPr/>
        </p:nvSpPr>
        <p:spPr>
          <a:xfrm>
            <a:off x="0" y="96972"/>
            <a:ext cx="3737930" cy="285413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0" rIns="182875" bIns="0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</a:pPr>
            <a:r>
              <a:rPr lang="es-MX" sz="14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METODOLOGIA PROPUESTA</a:t>
            </a:r>
            <a:endParaRPr/>
          </a:p>
        </p:txBody>
      </p:sp>
      <p:sp>
        <p:nvSpPr>
          <p:cNvPr id="157" name="Google Shape;157;p5"/>
          <p:cNvSpPr txBox="1">
            <a:spLocks noGrp="1"/>
          </p:cNvSpPr>
          <p:nvPr>
            <p:ph type="title"/>
          </p:nvPr>
        </p:nvSpPr>
        <p:spPr>
          <a:xfrm>
            <a:off x="5168552" y="572586"/>
            <a:ext cx="2299496" cy="1310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Impact"/>
              <a:buNone/>
            </a:pPr>
            <a:r>
              <a:rPr lang="es-MX" sz="8000" dirty="0">
                <a:solidFill>
                  <a:srgbClr val="0070C0"/>
                </a:solidFill>
              </a:rPr>
              <a:t>AUP</a:t>
            </a:r>
            <a:endParaRPr sz="8000" dirty="0">
              <a:solidFill>
                <a:srgbClr val="0070C0"/>
              </a:solidFill>
            </a:endParaRPr>
          </a:p>
        </p:txBody>
      </p:sp>
      <p:grpSp>
        <p:nvGrpSpPr>
          <p:cNvPr id="158" name="Google Shape;158;p5"/>
          <p:cNvGrpSpPr/>
          <p:nvPr/>
        </p:nvGrpSpPr>
        <p:grpSpPr>
          <a:xfrm>
            <a:off x="930445" y="2670262"/>
            <a:ext cx="10876547" cy="2816138"/>
            <a:chOff x="774072" y="1315064"/>
            <a:chExt cx="10702367" cy="1517475"/>
          </a:xfrm>
        </p:grpSpPr>
        <p:sp>
          <p:nvSpPr>
            <p:cNvPr id="159" name="Google Shape;159;p5"/>
            <p:cNvSpPr/>
            <p:nvPr/>
          </p:nvSpPr>
          <p:spPr>
            <a:xfrm>
              <a:off x="3301390" y="2028079"/>
              <a:ext cx="137004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9525" cap="flat" cmpd="sng">
              <a:solidFill>
                <a:srgbClr val="F7B321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5"/>
            <p:cNvSpPr txBox="1"/>
            <p:nvPr/>
          </p:nvSpPr>
          <p:spPr>
            <a:xfrm>
              <a:off x="3365702" y="2070891"/>
              <a:ext cx="8380" cy="58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Gill Sans"/>
                <a:buNone/>
              </a:pPr>
              <a:endParaRPr sz="5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774072" y="1315064"/>
              <a:ext cx="2529118" cy="1517470"/>
            </a:xfrm>
            <a:prstGeom prst="rect">
              <a:avLst/>
            </a:prstGeom>
            <a:solidFill>
              <a:srgbClr val="F7B321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5"/>
            <p:cNvSpPr txBox="1"/>
            <p:nvPr/>
          </p:nvSpPr>
          <p:spPr>
            <a:xfrm>
              <a:off x="774072" y="1315064"/>
              <a:ext cx="2529118" cy="15174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3925" tIns="130075" rIns="123925" bIns="1300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Gill Sans"/>
                <a:buNone/>
              </a:pPr>
              <a:r>
                <a:rPr lang="es-MX" sz="2300" dirty="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Permite un desarrollo iterativo e incremental</a:t>
              </a:r>
              <a:endParaRPr sz="23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5998112" y="2028079"/>
              <a:ext cx="221831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9525" cap="flat" cmpd="sng">
              <a:solidFill>
                <a:srgbClr val="F7B321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5"/>
            <p:cNvSpPr txBox="1"/>
            <p:nvPr/>
          </p:nvSpPr>
          <p:spPr>
            <a:xfrm>
              <a:off x="6102717" y="2070891"/>
              <a:ext cx="12621" cy="58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Gill Sans"/>
                <a:buNone/>
              </a:pPr>
              <a:endParaRPr sz="5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3470794" y="1315064"/>
              <a:ext cx="2529118" cy="1517470"/>
            </a:xfrm>
            <a:prstGeom prst="rect">
              <a:avLst/>
            </a:prstGeom>
            <a:solidFill>
              <a:srgbClr val="F7B321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5"/>
            <p:cNvSpPr txBox="1"/>
            <p:nvPr/>
          </p:nvSpPr>
          <p:spPr>
            <a:xfrm>
              <a:off x="3470794" y="1315064"/>
              <a:ext cx="2529118" cy="15174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3925" tIns="130075" rIns="123925" bIns="1300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Gill Sans"/>
                <a:buNone/>
              </a:pPr>
              <a:r>
                <a:rPr lang="es-MX" sz="23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Se adapta a cambios durante el proyecto</a:t>
              </a:r>
              <a:endParaRPr sz="23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8779662" y="2028079"/>
              <a:ext cx="135259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75170" y="60000"/>
                  </a:lnTo>
                  <a:lnTo>
                    <a:pt x="75170" y="60007"/>
                  </a:lnTo>
                  <a:lnTo>
                    <a:pt x="120000" y="60007"/>
                  </a:lnTo>
                </a:path>
              </a:pathLst>
            </a:custGeom>
            <a:noFill/>
            <a:ln w="9525" cap="flat" cmpd="sng">
              <a:solidFill>
                <a:srgbClr val="F7B321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5"/>
            <p:cNvSpPr txBox="1"/>
            <p:nvPr/>
          </p:nvSpPr>
          <p:spPr>
            <a:xfrm>
              <a:off x="8843145" y="2070891"/>
              <a:ext cx="8292" cy="58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Gill Sans"/>
                <a:buNone/>
              </a:pPr>
              <a:endParaRPr sz="5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6252344" y="1315064"/>
              <a:ext cx="2529118" cy="1517470"/>
            </a:xfrm>
            <a:prstGeom prst="rect">
              <a:avLst/>
            </a:prstGeom>
            <a:solidFill>
              <a:srgbClr val="F7B321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5"/>
            <p:cNvSpPr txBox="1"/>
            <p:nvPr/>
          </p:nvSpPr>
          <p:spPr>
            <a:xfrm>
              <a:off x="6252344" y="1315064"/>
              <a:ext cx="2529118" cy="15174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3925" tIns="130075" rIns="123925" bIns="1300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Gill Sans"/>
                <a:buNone/>
              </a:pPr>
              <a:r>
                <a:rPr lang="es-MX" sz="2300" dirty="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Facilita la organización por fases</a:t>
              </a:r>
              <a:endParaRPr sz="23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8947321" y="1315069"/>
              <a:ext cx="2529118" cy="1517470"/>
            </a:xfrm>
            <a:prstGeom prst="rect">
              <a:avLst/>
            </a:prstGeom>
            <a:solidFill>
              <a:srgbClr val="F7B321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5"/>
            <p:cNvSpPr txBox="1"/>
            <p:nvPr/>
          </p:nvSpPr>
          <p:spPr>
            <a:xfrm>
              <a:off x="8947321" y="1315069"/>
              <a:ext cx="2529118" cy="15174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3925" tIns="130075" rIns="123925" bIns="1300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Gill Sans"/>
                <a:buNone/>
              </a:pPr>
              <a:r>
                <a:rPr lang="es-MX" sz="2300" dirty="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Adecuada para proyectos de corto plazo</a:t>
              </a:r>
              <a:endParaRPr dirty="0"/>
            </a:p>
          </p:txBody>
        </p: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7ACE43A5-1F05-DEFC-C695-67D8BEF3D98D}"/>
              </a:ext>
            </a:extLst>
          </p:cNvPr>
          <p:cNvSpPr txBox="1"/>
          <p:nvPr/>
        </p:nvSpPr>
        <p:spPr>
          <a:xfrm>
            <a:off x="4219426" y="1882831"/>
            <a:ext cx="41977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rgbClr val="0070C0"/>
                </a:solidFill>
              </a:rPr>
              <a:t>(AGILE UNIFIED PROCESS)</a:t>
            </a:r>
            <a:endParaRPr lang="es-CL" sz="24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397990A-72C9-D6A8-1F7A-0C52F3200E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1" t="10125" r="1360" b="1687"/>
          <a:stretch>
            <a:fillRect/>
          </a:stretch>
        </p:blipFill>
        <p:spPr>
          <a:xfrm>
            <a:off x="1868965" y="557074"/>
            <a:ext cx="8454189" cy="5743851"/>
          </a:xfrm>
          <a:prstGeom prst="rect">
            <a:avLst/>
          </a:prstGeom>
        </p:spPr>
      </p:pic>
      <p:sp>
        <p:nvSpPr>
          <p:cNvPr id="2" name="Google Shape;128;p2">
            <a:extLst>
              <a:ext uri="{FF2B5EF4-FFF2-40B4-BE49-F238E27FC236}">
                <a16:creationId xmlns:a16="http://schemas.microsoft.com/office/drawing/2014/main" id="{5612C5F3-44FE-FA68-5DBC-CB403FABE1D4}"/>
              </a:ext>
            </a:extLst>
          </p:cNvPr>
          <p:cNvSpPr/>
          <p:nvPr/>
        </p:nvSpPr>
        <p:spPr>
          <a:xfrm>
            <a:off x="0" y="160420"/>
            <a:ext cx="3737930" cy="285413"/>
          </a:xfrm>
          <a:prstGeom prst="homePlate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182875" bIns="0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s-MX" sz="14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ROLES</a:t>
            </a:r>
            <a:endParaRPr sz="11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/>
          <p:nvPr/>
        </p:nvSpPr>
        <p:spPr>
          <a:xfrm>
            <a:off x="0" y="132719"/>
            <a:ext cx="3737930" cy="285413"/>
          </a:xfrm>
          <a:prstGeom prst="homePlate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182875" bIns="0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s-MX" dirty="0">
                <a:solidFill>
                  <a:srgbClr val="FFFFFF"/>
                </a:solidFill>
                <a:latin typeface="Cambria"/>
                <a:ea typeface="Cambria"/>
                <a:sym typeface="Cambria"/>
              </a:rPr>
              <a:t>FUNCIONALIDADES</a:t>
            </a:r>
            <a:endParaRPr sz="11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BCAC7CC-16F3-02A8-E213-9CAC6C9A79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76"/>
          <a:stretch>
            <a:fillRect/>
          </a:stretch>
        </p:blipFill>
        <p:spPr>
          <a:xfrm>
            <a:off x="1103341" y="1812758"/>
            <a:ext cx="10353878" cy="431197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0DB6A0D-E1D1-A3DC-2BE4-E5B825236D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9625" y="564809"/>
            <a:ext cx="2705478" cy="12479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23">
          <a:extLst>
            <a:ext uri="{FF2B5EF4-FFF2-40B4-BE49-F238E27FC236}">
              <a16:creationId xmlns:a16="http://schemas.microsoft.com/office/drawing/2014/main" id="{0E32A926-389D-A268-2436-D64AEEA4C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">
            <a:extLst>
              <a:ext uri="{FF2B5EF4-FFF2-40B4-BE49-F238E27FC236}">
                <a16:creationId xmlns:a16="http://schemas.microsoft.com/office/drawing/2014/main" id="{488B3CCF-BBBD-AB13-16BC-E465238D7978}"/>
              </a:ext>
            </a:extLst>
          </p:cNvPr>
          <p:cNvSpPr/>
          <p:nvPr/>
        </p:nvSpPr>
        <p:spPr>
          <a:xfrm>
            <a:off x="-3" y="0"/>
            <a:ext cx="1219199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6264380C-F61F-CBF4-0E66-2589679B315F}"/>
              </a:ext>
            </a:extLst>
          </p:cNvPr>
          <p:cNvSpPr/>
          <p:nvPr/>
        </p:nvSpPr>
        <p:spPr>
          <a:xfrm rot="5400000">
            <a:off x="5774263" y="440267"/>
            <a:ext cx="643467" cy="12191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8" name="Google Shape;128;p2">
            <a:extLst>
              <a:ext uri="{FF2B5EF4-FFF2-40B4-BE49-F238E27FC236}">
                <a16:creationId xmlns:a16="http://schemas.microsoft.com/office/drawing/2014/main" id="{42C8F09A-F7A1-44BF-C5BD-08C27FD5B033}"/>
              </a:ext>
            </a:extLst>
          </p:cNvPr>
          <p:cNvSpPr/>
          <p:nvPr/>
        </p:nvSpPr>
        <p:spPr>
          <a:xfrm>
            <a:off x="0" y="160420"/>
            <a:ext cx="3737930" cy="285413"/>
          </a:xfrm>
          <a:prstGeom prst="homePlate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182875" bIns="0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s-MX" sz="14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ESTANDAR DE CALIDAD</a:t>
            </a:r>
            <a:endParaRPr sz="11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5442A9B4-F112-48B3-0483-58CA4E0D26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1745329"/>
              </p:ext>
            </p:extLst>
          </p:nvPr>
        </p:nvGraphicFramePr>
        <p:xfrm>
          <a:off x="1130710" y="757084"/>
          <a:ext cx="9891251" cy="5125737"/>
        </p:xfrm>
        <a:graphic>
          <a:graphicData uri="http://schemas.openxmlformats.org/drawingml/2006/table">
            <a:tbl>
              <a:tblPr/>
              <a:tblGrid>
                <a:gridCol w="1324443">
                  <a:extLst>
                    <a:ext uri="{9D8B030D-6E8A-4147-A177-3AD203B41FA5}">
                      <a16:colId xmlns:a16="http://schemas.microsoft.com/office/drawing/2014/main" val="1575438626"/>
                    </a:ext>
                  </a:extLst>
                </a:gridCol>
                <a:gridCol w="2648891">
                  <a:extLst>
                    <a:ext uri="{9D8B030D-6E8A-4147-A177-3AD203B41FA5}">
                      <a16:colId xmlns:a16="http://schemas.microsoft.com/office/drawing/2014/main" val="3010466464"/>
                    </a:ext>
                  </a:extLst>
                </a:gridCol>
                <a:gridCol w="5917917">
                  <a:extLst>
                    <a:ext uri="{9D8B030D-6E8A-4147-A177-3AD203B41FA5}">
                      <a16:colId xmlns:a16="http://schemas.microsoft.com/office/drawing/2014/main" val="2803985739"/>
                    </a:ext>
                  </a:extLst>
                </a:gridCol>
              </a:tblGrid>
              <a:tr h="43839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s-CL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Tipo</a:t>
                      </a:r>
                      <a:endParaRPr lang="es-CL" sz="14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876" marR="70876" marT="47251" marB="47251">
                    <a:lnL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s-CL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Criterio / Heurística</a:t>
                      </a:r>
                      <a:endParaRPr lang="es-CL" sz="14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876" marR="70876" marT="47251" marB="47251">
                    <a:lnL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s-CL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Objetivo de Evaluación</a:t>
                      </a:r>
                      <a:endParaRPr lang="es-CL" sz="14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876" marR="70876" marT="47251" marB="47251">
                    <a:lnL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52136"/>
                  </a:ext>
                </a:extLst>
              </a:tr>
              <a:tr h="524114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s-C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Calidad</a:t>
                      </a:r>
                      <a:endParaRPr lang="es-CL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876" marR="70876" marT="47251" marB="47251">
                    <a:lnL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s-C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1.Seguridad de Datos</a:t>
                      </a:r>
                      <a:endParaRPr lang="es-CL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876" marR="70876" marT="47251" marB="47251">
                    <a:lnL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s-C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Verificar el cifrado de contraseñas y control de roles (RNF-14).</a:t>
                      </a:r>
                      <a:endParaRPr lang="es-CL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876" marR="70876" marT="47251" marB="47251">
                    <a:lnL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0815303"/>
                  </a:ext>
                </a:extLst>
              </a:tr>
              <a:tr h="462581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s-CL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Calidad</a:t>
                      </a:r>
                      <a:endParaRPr lang="es-CL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876" marR="70876" marT="47251" marB="47251">
                    <a:lnL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s-C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2.Tiempo de Respuesta</a:t>
                      </a:r>
                      <a:endParaRPr lang="es-CL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876" marR="70876" marT="47251" marB="47251">
                    <a:lnL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s-CL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Validar que las búsquedas tarden menos de 2 segundos (RNF-6).</a:t>
                      </a:r>
                      <a:endParaRPr lang="es-CL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876" marR="70876" marT="47251" marB="47251">
                    <a:lnL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909354"/>
                  </a:ext>
                </a:extLst>
              </a:tr>
              <a:tr h="462581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s-CL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Calidad</a:t>
                      </a:r>
                      <a:endParaRPr lang="es-CL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876" marR="70876" marT="47251" marB="47251">
                    <a:lnL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s-C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Integridad de Datos</a:t>
                      </a:r>
                      <a:endParaRPr lang="es-CL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876" marR="70876" marT="47251" marB="47251">
                    <a:lnL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s-C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Asegurar que no existan registros duplicados en préstamos (RNF-9).</a:t>
                      </a:r>
                      <a:endParaRPr lang="es-CL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876" marR="70876" marT="47251" marB="47251">
                    <a:lnL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5786355"/>
                  </a:ext>
                </a:extLst>
              </a:tr>
              <a:tr h="462581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s-CL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Calidad</a:t>
                      </a:r>
                      <a:endParaRPr lang="es-CL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876" marR="70876" marT="47251" marB="47251">
                    <a:lnL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s-CL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 Disponibilidad</a:t>
                      </a:r>
                      <a:endParaRPr lang="es-CL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876" marR="70876" marT="47251" marB="47251">
                    <a:lnL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s-C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Comprobar el funcionamiento del 99% en horario académico (RNF-7).</a:t>
                      </a:r>
                      <a:endParaRPr lang="es-CL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876" marR="70876" marT="47251" marB="47251">
                    <a:lnL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497181"/>
                  </a:ext>
                </a:extLst>
              </a:tr>
              <a:tr h="462581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s-CL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Calidad</a:t>
                      </a:r>
                      <a:endParaRPr lang="es-CL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876" marR="70876" marT="47251" marB="47251">
                    <a:lnL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s-CL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5.Tolerancia a Fallos</a:t>
                      </a:r>
                      <a:endParaRPr lang="es-CL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876" marR="70876" marT="47251" marB="47251">
                    <a:lnL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s-C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Evaluar el manejo de excepciones y logs ante errores críticos (RNF-15).</a:t>
                      </a:r>
                      <a:endParaRPr lang="es-CL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876" marR="70876" marT="47251" marB="47251">
                    <a:lnL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9978541"/>
                  </a:ext>
                </a:extLst>
              </a:tr>
              <a:tr h="462581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s-CL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Usabilidad</a:t>
                      </a:r>
                      <a:endParaRPr lang="es-CL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876" marR="70876" marT="47251" marB="47251">
                    <a:lnL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s-C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6.Visibilidad (H1)</a:t>
                      </a:r>
                      <a:endParaRPr lang="es-CL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876" marR="70876" marT="47251" marB="47251">
                    <a:lnL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s-C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Informar siempre al usuario sobre el estado de su solicitud.</a:t>
                      </a:r>
                      <a:endParaRPr lang="es-CL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876" marR="70876" marT="47251" marB="47251">
                    <a:lnL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0863059"/>
                  </a:ext>
                </a:extLst>
              </a:tr>
              <a:tr h="462581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s-CL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Usabilidad</a:t>
                      </a:r>
                      <a:endParaRPr lang="es-CL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876" marR="70876" marT="47251" marB="47251">
                    <a:lnL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s-CL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7.Prevención de Errores (H5)</a:t>
                      </a:r>
                      <a:endParaRPr lang="es-CL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876" marR="70876" marT="47251" marB="47251">
                    <a:lnL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s-C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Evitar acciones accidentales mediante diálogos de confirmación.</a:t>
                      </a:r>
                      <a:endParaRPr lang="es-CL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876" marR="70876" marT="47251" marB="47251">
                    <a:lnL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7373272"/>
                  </a:ext>
                </a:extLst>
              </a:tr>
              <a:tr h="462581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s-CL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Usabilidad</a:t>
                      </a:r>
                      <a:endParaRPr lang="es-CL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876" marR="70876" marT="47251" marB="47251">
                    <a:lnL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s-CL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 Consistencia (H4)</a:t>
                      </a:r>
                      <a:endParaRPr lang="es-CL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876" marR="70876" marT="47251" marB="47251">
                    <a:lnL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s-C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Mantener los mismos estándares visuales en todo el sistema.</a:t>
                      </a:r>
                      <a:endParaRPr lang="es-CL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876" marR="70876" marT="47251" marB="47251">
                    <a:lnL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702251"/>
                  </a:ext>
                </a:extLst>
              </a:tr>
              <a:tr h="462581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s-CL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Usabilidad</a:t>
                      </a:r>
                      <a:endParaRPr lang="es-CL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876" marR="70876" marT="47251" marB="47251">
                    <a:lnL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s-CL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 Recuperación (H9)</a:t>
                      </a:r>
                      <a:endParaRPr lang="es-CL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876" marR="70876" marT="47251" marB="47251">
                    <a:lnL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s-C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Ofrecer mensajes de error claros que ayuden a solucionar el problema.</a:t>
                      </a:r>
                      <a:endParaRPr lang="es-CL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876" marR="70876" marT="47251" marB="47251">
                    <a:lnL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633530"/>
                  </a:ext>
                </a:extLst>
              </a:tr>
              <a:tr h="462581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s-CL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Usabilidad</a:t>
                      </a:r>
                      <a:endParaRPr lang="es-CL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876" marR="70876" marT="47251" marB="47251">
                    <a:lnL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s-CL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 Minimalismo (H8)</a:t>
                      </a:r>
                      <a:endParaRPr lang="es-CL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876" marR="70876" marT="47251" marB="47251">
                    <a:lnL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s-C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Mostrar solo la información necesaria para cada tarea.</a:t>
                      </a:r>
                      <a:endParaRPr lang="es-CL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876" marR="70876" marT="47251" marB="47251">
                    <a:lnL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4C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66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3810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B3B0F17F-508B-9863-CD8C-5B73E4DB1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71604EAC-7192-9FC7-A6B5-A220FED64AF6}"/>
              </a:ext>
            </a:extLst>
          </p:cNvPr>
          <p:cNvSpPr/>
          <p:nvPr/>
        </p:nvSpPr>
        <p:spPr>
          <a:xfrm>
            <a:off x="1977190" y="607595"/>
            <a:ext cx="9039726" cy="5642810"/>
          </a:xfrm>
          <a:prstGeom prst="rect">
            <a:avLst/>
          </a:prstGeom>
          <a:solidFill>
            <a:srgbClr val="FEFF99"/>
          </a:solidFill>
          <a:ln w="57150">
            <a:solidFill>
              <a:srgbClr val="5898D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56" name="Google Shape;156;p5">
            <a:extLst>
              <a:ext uri="{FF2B5EF4-FFF2-40B4-BE49-F238E27FC236}">
                <a16:creationId xmlns:a16="http://schemas.microsoft.com/office/drawing/2014/main" id="{17D810A5-F540-CB04-3271-1CA1B7CD2F6E}"/>
              </a:ext>
            </a:extLst>
          </p:cNvPr>
          <p:cNvSpPr/>
          <p:nvPr/>
        </p:nvSpPr>
        <p:spPr>
          <a:xfrm>
            <a:off x="0" y="96972"/>
            <a:ext cx="3737930" cy="285413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0" rIns="182875" bIns="0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</a:pPr>
            <a:r>
              <a:rPr lang="es-MX" b="1" dirty="0">
                <a:solidFill>
                  <a:schemeClr val="lt1"/>
                </a:solidFill>
                <a:latin typeface="Gill Sans"/>
                <a:sym typeface="Gill Sans"/>
              </a:rPr>
              <a:t>DISEÑO ARQUITECTONICO 4 + 1</a:t>
            </a:r>
            <a:endParaRPr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716B7B7-F729-204B-BA7F-D7C42EDED2F1}"/>
              </a:ext>
            </a:extLst>
          </p:cNvPr>
          <p:cNvSpPr/>
          <p:nvPr/>
        </p:nvSpPr>
        <p:spPr>
          <a:xfrm>
            <a:off x="3185642" y="1281404"/>
            <a:ext cx="2839452" cy="1780674"/>
          </a:xfrm>
          <a:prstGeom prst="rect">
            <a:avLst/>
          </a:prstGeom>
          <a:solidFill>
            <a:srgbClr val="00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>
                <a:solidFill>
                  <a:schemeClr val="tx1"/>
                </a:solidFill>
              </a:rPr>
              <a:t>Vista lógica</a:t>
            </a:r>
          </a:p>
          <a:p>
            <a:endParaRPr lang="es-CL" b="1" dirty="0">
              <a:solidFill>
                <a:schemeClr val="tx1"/>
              </a:solidFill>
            </a:endParaRPr>
          </a:p>
          <a:p>
            <a:r>
              <a:rPr lang="es-CL" b="1" dirty="0">
                <a:solidFill>
                  <a:schemeClr val="tx1"/>
                </a:solidFill>
              </a:rPr>
              <a:t>Estructura del sistema</a:t>
            </a:r>
            <a:endParaRPr lang="es-CL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CL" dirty="0">
                <a:solidFill>
                  <a:schemeClr val="tx1"/>
                </a:solidFill>
              </a:rPr>
              <a:t>Usuarios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CL" dirty="0">
                <a:solidFill>
                  <a:schemeClr val="tx1"/>
                </a:solidFill>
              </a:rPr>
              <a:t>Libros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CL" dirty="0">
                <a:solidFill>
                  <a:schemeClr val="tx1"/>
                </a:solidFill>
              </a:rPr>
              <a:t>Préstamos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CL" dirty="0">
                <a:solidFill>
                  <a:schemeClr val="tx1"/>
                </a:solidFill>
              </a:rPr>
              <a:t>Categorías </a:t>
            </a:r>
          </a:p>
          <a:p>
            <a:pPr algn="ctr"/>
            <a:endParaRPr lang="es-CL" dirty="0">
              <a:solidFill>
                <a:schemeClr val="tx1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E0DA8A6-68FE-1093-76D4-D29AEB8CF5C4}"/>
              </a:ext>
            </a:extLst>
          </p:cNvPr>
          <p:cNvSpPr/>
          <p:nvPr/>
        </p:nvSpPr>
        <p:spPr>
          <a:xfrm>
            <a:off x="7800767" y="1276342"/>
            <a:ext cx="2839452" cy="1780674"/>
          </a:xfrm>
          <a:prstGeom prst="rect">
            <a:avLst/>
          </a:prstGeom>
          <a:solidFill>
            <a:srgbClr val="99CD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>
                <a:solidFill>
                  <a:schemeClr val="tx1"/>
                </a:solidFill>
              </a:rPr>
              <a:t>Vista de desarrollo</a:t>
            </a:r>
          </a:p>
          <a:p>
            <a:pPr algn="ctr"/>
            <a:endParaRPr lang="es-CL" b="1" dirty="0">
              <a:solidFill>
                <a:schemeClr val="tx1"/>
              </a:solidFill>
            </a:endParaRPr>
          </a:p>
          <a:p>
            <a:r>
              <a:rPr lang="es-CL" b="1" dirty="0">
                <a:solidFill>
                  <a:schemeClr val="tx1"/>
                </a:solidFill>
              </a:rPr>
              <a:t>Organización del Software</a:t>
            </a:r>
          </a:p>
          <a:p>
            <a:pPr marL="285750" lvl="4" indent="-285750">
              <a:buFont typeface="Wingdings" panose="05000000000000000000" pitchFamily="2" charset="2"/>
              <a:buChar char="v"/>
            </a:pPr>
            <a:r>
              <a:rPr lang="es-CL" dirty="0">
                <a:solidFill>
                  <a:schemeClr val="tx1"/>
                </a:solidFill>
              </a:rPr>
              <a:t>Interfaz Web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CL" dirty="0">
                <a:solidFill>
                  <a:schemeClr val="tx1"/>
                </a:solidFill>
              </a:rPr>
              <a:t>Sistema UNILIB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CL" dirty="0">
                <a:solidFill>
                  <a:schemeClr val="tx1"/>
                </a:solidFill>
              </a:rPr>
              <a:t>Base de Datos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D1DD2CD-8E70-C967-1713-CA341844156D}"/>
              </a:ext>
            </a:extLst>
          </p:cNvPr>
          <p:cNvSpPr/>
          <p:nvPr/>
        </p:nvSpPr>
        <p:spPr>
          <a:xfrm>
            <a:off x="3185642" y="4202094"/>
            <a:ext cx="2839452" cy="1780674"/>
          </a:xfrm>
          <a:prstGeom prst="rect">
            <a:avLst/>
          </a:prstGeom>
          <a:solidFill>
            <a:srgbClr val="CC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>
                <a:solidFill>
                  <a:schemeClr val="tx1"/>
                </a:solidFill>
              </a:rPr>
              <a:t>Vista de procesos</a:t>
            </a:r>
          </a:p>
          <a:p>
            <a:pPr algn="ctr"/>
            <a:endParaRPr lang="es-CL" dirty="0">
              <a:solidFill>
                <a:schemeClr val="tx1"/>
              </a:solidFill>
            </a:endParaRPr>
          </a:p>
          <a:p>
            <a:pPr algn="ctr"/>
            <a:r>
              <a:rPr lang="es-CL" dirty="0">
                <a:solidFill>
                  <a:schemeClr val="tx1"/>
                </a:solidFill>
              </a:rPr>
              <a:t>Representa el flujo de actividades del sistema.</a:t>
            </a:r>
          </a:p>
          <a:p>
            <a:pPr algn="ctr"/>
            <a:endParaRPr lang="es-CL" dirty="0">
              <a:solidFill>
                <a:schemeClr val="tx1"/>
              </a:solidFill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B1D3CCF-2E60-E6D3-26B0-F2AAB789B0B3}"/>
              </a:ext>
            </a:extLst>
          </p:cNvPr>
          <p:cNvSpPr/>
          <p:nvPr/>
        </p:nvSpPr>
        <p:spPr>
          <a:xfrm>
            <a:off x="7800767" y="4202094"/>
            <a:ext cx="2839452" cy="1780674"/>
          </a:xfrm>
          <a:prstGeom prst="rect">
            <a:avLst/>
          </a:prstGeom>
          <a:solidFill>
            <a:srgbClr val="FF9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>
                <a:solidFill>
                  <a:schemeClr val="tx1"/>
                </a:solidFill>
              </a:rPr>
              <a:t>Vista física</a:t>
            </a:r>
          </a:p>
          <a:p>
            <a:pPr algn="ctr"/>
            <a:endParaRPr lang="es-CL" dirty="0"/>
          </a:p>
          <a:p>
            <a:pPr algn="ctr"/>
            <a:r>
              <a:rPr lang="es-CL" dirty="0">
                <a:solidFill>
                  <a:schemeClr val="tx1"/>
                </a:solidFill>
              </a:rPr>
              <a:t>Infraestructura tecnológica del sistema.</a:t>
            </a:r>
          </a:p>
          <a:p>
            <a:pPr algn="ctr"/>
            <a:endParaRPr lang="es-CL" dirty="0"/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4EE58E47-4D9E-0798-B365-D7C7F1016836}"/>
              </a:ext>
            </a:extLst>
          </p:cNvPr>
          <p:cNvCxnSpPr>
            <a:cxnSpLocks/>
          </p:cNvCxnSpPr>
          <p:nvPr/>
        </p:nvCxnSpPr>
        <p:spPr>
          <a:xfrm>
            <a:off x="2695074" y="3629555"/>
            <a:ext cx="8069179" cy="0"/>
          </a:xfrm>
          <a:prstGeom prst="line">
            <a:avLst/>
          </a:prstGeom>
          <a:ln w="57150">
            <a:solidFill>
              <a:srgbClr val="5898D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0A4802E1-962D-A7B0-9DF0-867FD02E6314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6025094" y="5092431"/>
            <a:ext cx="1775673" cy="0"/>
          </a:xfrm>
          <a:prstGeom prst="straightConnector1">
            <a:avLst/>
          </a:prstGeom>
          <a:ln w="57150" cap="flat" cmpd="sng" algn="ctr">
            <a:solidFill>
              <a:srgbClr val="5898D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BB14CF35-FAF7-DFB9-F43A-AC92F5EB13C5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>
            <a:off x="9220493" y="3057016"/>
            <a:ext cx="0" cy="1145078"/>
          </a:xfrm>
          <a:prstGeom prst="straightConnector1">
            <a:avLst/>
          </a:prstGeom>
          <a:ln w="57150" cap="flat" cmpd="sng" algn="ctr">
            <a:solidFill>
              <a:srgbClr val="5898D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2BDD5788-9C01-51E0-7207-AF70F6B5F757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4605368" y="3062078"/>
            <a:ext cx="0" cy="1140016"/>
          </a:xfrm>
          <a:prstGeom prst="straightConnector1">
            <a:avLst/>
          </a:prstGeom>
          <a:ln w="57150" cap="flat" cmpd="sng" algn="ctr">
            <a:solidFill>
              <a:srgbClr val="5898D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B6FE44C1-E316-B0F5-E757-A8C2A1B4A53F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6025094" y="2166679"/>
            <a:ext cx="1775673" cy="5062"/>
          </a:xfrm>
          <a:prstGeom prst="straightConnector1">
            <a:avLst/>
          </a:prstGeom>
          <a:ln w="57150" cap="flat" cmpd="sng" algn="ctr">
            <a:solidFill>
              <a:srgbClr val="5898D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BD374D2B-98D6-1EBA-CFB0-495B937D67E1}"/>
              </a:ext>
            </a:extLst>
          </p:cNvPr>
          <p:cNvCxnSpPr>
            <a:cxnSpLocks/>
          </p:cNvCxnSpPr>
          <p:nvPr/>
        </p:nvCxnSpPr>
        <p:spPr>
          <a:xfrm flipV="1">
            <a:off x="6895671" y="1052306"/>
            <a:ext cx="0" cy="4940968"/>
          </a:xfrm>
          <a:prstGeom prst="line">
            <a:avLst/>
          </a:prstGeom>
          <a:ln w="57150">
            <a:solidFill>
              <a:srgbClr val="5898D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>
            <a:extLst>
              <a:ext uri="{FF2B5EF4-FFF2-40B4-BE49-F238E27FC236}">
                <a16:creationId xmlns:a16="http://schemas.microsoft.com/office/drawing/2014/main" id="{5180D38C-CB29-19CF-67CE-3E2A41C1E8E2}"/>
              </a:ext>
            </a:extLst>
          </p:cNvPr>
          <p:cNvSpPr/>
          <p:nvPr/>
        </p:nvSpPr>
        <p:spPr>
          <a:xfrm>
            <a:off x="5011051" y="2642480"/>
            <a:ext cx="3769240" cy="2227595"/>
          </a:xfrm>
          <a:prstGeom prst="ellipse">
            <a:avLst/>
          </a:prstGeom>
          <a:solidFill>
            <a:srgbClr val="01FFC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300" b="1" dirty="0">
                <a:solidFill>
                  <a:schemeClr val="tx1"/>
                </a:solidFill>
              </a:rPr>
              <a:t>VISTA DE ESCENARIOS</a:t>
            </a:r>
          </a:p>
          <a:p>
            <a:pPr algn="ctr"/>
            <a:r>
              <a:rPr lang="es-CL" sz="1300" b="1" dirty="0">
                <a:solidFill>
                  <a:schemeClr val="tx1"/>
                </a:solidFill>
              </a:rPr>
              <a:t>CASOS DE USO</a:t>
            </a:r>
          </a:p>
          <a:p>
            <a:pPr algn="ctr"/>
            <a:endParaRPr lang="es-CL" dirty="0">
              <a:solidFill>
                <a:schemeClr val="tx1"/>
              </a:solidFill>
            </a:endParaRPr>
          </a:p>
          <a:p>
            <a:pPr algn="ctr"/>
            <a:r>
              <a:rPr lang="es-CL" dirty="0">
                <a:solidFill>
                  <a:schemeClr val="tx1"/>
                </a:solidFill>
              </a:rPr>
              <a:t>Representa las principales funcionalidades que utilizan los actores del sistema.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A4CC238C-C931-9F24-A5D8-B9FEFCBE8791}"/>
              </a:ext>
            </a:extLst>
          </p:cNvPr>
          <p:cNvSpPr txBox="1"/>
          <p:nvPr/>
        </p:nvSpPr>
        <p:spPr>
          <a:xfrm rot="16200000">
            <a:off x="1693611" y="1876822"/>
            <a:ext cx="17756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b="1" dirty="0"/>
              <a:t>REQUISITOS</a:t>
            </a:r>
          </a:p>
          <a:p>
            <a:pPr algn="ctr"/>
            <a:r>
              <a:rPr lang="es-CL" sz="1600" b="1" dirty="0"/>
              <a:t>FUNCIONALES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1C21086B-5682-840B-C742-4E5584CD056A}"/>
              </a:ext>
            </a:extLst>
          </p:cNvPr>
          <p:cNvSpPr txBox="1"/>
          <p:nvPr/>
        </p:nvSpPr>
        <p:spPr>
          <a:xfrm>
            <a:off x="7800767" y="772692"/>
            <a:ext cx="2839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 dirty="0"/>
              <a:t>VISTAS OPERACIONALES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8F373296-33EA-59CD-A852-DE5ADBD2B37D}"/>
              </a:ext>
            </a:extLst>
          </p:cNvPr>
          <p:cNvSpPr txBox="1"/>
          <p:nvPr/>
        </p:nvSpPr>
        <p:spPr>
          <a:xfrm rot="16200000">
            <a:off x="1691080" y="4676932"/>
            <a:ext cx="17806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b="1" dirty="0"/>
              <a:t>REQUISITOS NO</a:t>
            </a:r>
          </a:p>
          <a:p>
            <a:pPr algn="ctr"/>
            <a:r>
              <a:rPr lang="es-CL" sz="1600" b="1" dirty="0"/>
              <a:t>FUNCIONALES</a:t>
            </a:r>
          </a:p>
        </p:txBody>
      </p:sp>
      <p:sp>
        <p:nvSpPr>
          <p:cNvPr id="152" name="CuadroTexto 151">
            <a:extLst>
              <a:ext uri="{FF2B5EF4-FFF2-40B4-BE49-F238E27FC236}">
                <a16:creationId xmlns:a16="http://schemas.microsoft.com/office/drawing/2014/main" id="{0CFF6506-2080-3688-4129-BCAA814BEC5E}"/>
              </a:ext>
            </a:extLst>
          </p:cNvPr>
          <p:cNvSpPr txBox="1"/>
          <p:nvPr/>
        </p:nvSpPr>
        <p:spPr>
          <a:xfrm>
            <a:off x="3185642" y="780585"/>
            <a:ext cx="2839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 dirty="0"/>
              <a:t>VISTAS CONCEPTUALES</a:t>
            </a:r>
          </a:p>
        </p:txBody>
      </p:sp>
    </p:spTree>
    <p:extLst>
      <p:ext uri="{BB962C8B-B14F-4D97-AF65-F5344CB8AC3E}">
        <p14:creationId xmlns:p14="http://schemas.microsoft.com/office/powerpoint/2010/main" val="3284080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/>
          <p:nvPr/>
        </p:nvSpPr>
        <p:spPr>
          <a:xfrm>
            <a:off x="3557016" y="630936"/>
            <a:ext cx="5235575" cy="5229225"/>
          </a:xfrm>
          <a:custGeom>
            <a:avLst/>
            <a:gdLst/>
            <a:ahLst/>
            <a:cxnLst/>
            <a:rect l="l" t="t" r="r" b="b"/>
            <a:pathLst>
              <a:path w="3298" h="3294" extrusionOk="0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-1" y="-2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08B46E2-7152-15AB-45C9-ED91576EE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035" y="272618"/>
            <a:ext cx="9051621" cy="6585382"/>
          </a:xfrm>
          <a:prstGeom prst="rect">
            <a:avLst/>
          </a:prstGeom>
        </p:spPr>
      </p:pic>
      <p:sp>
        <p:nvSpPr>
          <p:cNvPr id="6" name="Google Shape;156;p5">
            <a:extLst>
              <a:ext uri="{FF2B5EF4-FFF2-40B4-BE49-F238E27FC236}">
                <a16:creationId xmlns:a16="http://schemas.microsoft.com/office/drawing/2014/main" id="{4BEA8745-5D6E-AA63-7283-A07C7A935190}"/>
              </a:ext>
            </a:extLst>
          </p:cNvPr>
          <p:cNvSpPr/>
          <p:nvPr/>
        </p:nvSpPr>
        <p:spPr>
          <a:xfrm rot="16200000">
            <a:off x="-2085984" y="2795336"/>
            <a:ext cx="6858002" cy="1267326"/>
          </a:xfrm>
          <a:prstGeom prst="homePlate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182875" bIns="0" anchor="ctr" anchorCtr="0">
            <a:noAutofit/>
          </a:bodyPr>
          <a:lstStyle/>
          <a:p>
            <a:pPr algn="r">
              <a:lnSpc>
                <a:spcPct val="115000"/>
              </a:lnSpc>
              <a:buClr>
                <a:schemeClr val="lt1"/>
              </a:buClr>
              <a:buSzPts val="1400"/>
            </a:pPr>
            <a:r>
              <a:rPr lang="es-MX" sz="2400" dirty="0">
                <a:solidFill>
                  <a:srgbClr val="FFFFFF"/>
                </a:solidFill>
                <a:latin typeface="+mj-lt"/>
                <a:ea typeface="Cambria"/>
                <a:cs typeface="Cambria"/>
                <a:sym typeface="Cambria"/>
              </a:rPr>
              <a:t>ESPECIFICACION DE CASO DE USO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" name="Google Shape;156;p5">
            <a:extLst>
              <a:ext uri="{FF2B5EF4-FFF2-40B4-BE49-F238E27FC236}">
                <a16:creationId xmlns:a16="http://schemas.microsoft.com/office/drawing/2014/main" id="{3AB97219-B5BA-B944-7541-1EFC12ED12CD}"/>
              </a:ext>
            </a:extLst>
          </p:cNvPr>
          <p:cNvSpPr/>
          <p:nvPr/>
        </p:nvSpPr>
        <p:spPr>
          <a:xfrm rot="16200000">
            <a:off x="-2085984" y="2795336"/>
            <a:ext cx="6858002" cy="1267326"/>
          </a:xfrm>
          <a:prstGeom prst="homePlate">
            <a:avLst>
              <a:gd name="adj" fmla="val 50000"/>
            </a:avLst>
          </a:prstGeom>
          <a:solidFill>
            <a:srgbClr val="00FFFF"/>
          </a:solidFill>
          <a:ln>
            <a:noFill/>
          </a:ln>
        </p:spPr>
        <p:txBody>
          <a:bodyPr spcFirstLastPara="1" wrap="square" lIns="91425" tIns="0" rIns="182875" bIns="0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</a:pPr>
            <a:r>
              <a:rPr lang="es-MX" sz="4000" b="1" dirty="0">
                <a:ln>
                  <a:solidFill>
                    <a:schemeClr val="accent3">
                      <a:lumMod val="75000"/>
                    </a:schemeClr>
                  </a:solidFill>
                </a:ln>
                <a:solidFill>
                  <a:schemeClr val="lt1"/>
                </a:solidFill>
                <a:latin typeface="+mj-lt"/>
                <a:ea typeface="Gill Sans"/>
                <a:cs typeface="Gill Sans"/>
                <a:sym typeface="Gill Sans"/>
              </a:rPr>
              <a:t>VISTA LOGICA</a:t>
            </a:r>
          </a:p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</a:pPr>
            <a:r>
              <a:rPr lang="es-MX" sz="2000" b="1" dirty="0">
                <a:ln>
                  <a:solidFill>
                    <a:schemeClr val="accent3">
                      <a:lumMod val="75000"/>
                    </a:schemeClr>
                  </a:solidFill>
                </a:ln>
                <a:solidFill>
                  <a:schemeClr val="lt1"/>
                </a:solidFill>
                <a:latin typeface="+mj-lt"/>
                <a:ea typeface="Gill Sans"/>
                <a:cs typeface="Gill Sans"/>
                <a:sym typeface="Gill Sans"/>
              </a:rPr>
              <a:t>DIAGRAMA DE CLASES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5181DDF2-3E4B-67A4-6354-EC44CE563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8015" y="205694"/>
            <a:ext cx="6888516" cy="6446611"/>
          </a:xfrm>
          <a:prstGeom prst="rect">
            <a:avLst/>
          </a:prstGeom>
          <a:ln w="38100">
            <a:solidFill>
              <a:srgbClr val="00FFFF"/>
            </a:solidFill>
            <a:prstDash val="dash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45">
          <a:extLst>
            <a:ext uri="{FF2B5EF4-FFF2-40B4-BE49-F238E27FC236}">
              <a16:creationId xmlns:a16="http://schemas.microsoft.com/office/drawing/2014/main" id="{9DA71178-63C9-F66D-CF28-6DC6898A9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">
            <a:extLst>
              <a:ext uri="{FF2B5EF4-FFF2-40B4-BE49-F238E27FC236}">
                <a16:creationId xmlns:a16="http://schemas.microsoft.com/office/drawing/2014/main" id="{782A6BDC-F8FD-0E51-429B-7D155DCE99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6156718-2FD5-EC3D-428F-0CDE618600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917" t="2704" r="16754" b="6355"/>
          <a:stretch>
            <a:fillRect/>
          </a:stretch>
        </p:blipFill>
        <p:spPr>
          <a:xfrm>
            <a:off x="2839452" y="140728"/>
            <a:ext cx="7411453" cy="6576544"/>
          </a:xfrm>
          <a:prstGeom prst="rect">
            <a:avLst/>
          </a:prstGeom>
          <a:ln w="38100">
            <a:solidFill>
              <a:srgbClr val="5898D1"/>
            </a:solidFill>
            <a:prstDash val="dash"/>
          </a:ln>
        </p:spPr>
      </p:pic>
      <p:sp>
        <p:nvSpPr>
          <p:cNvPr id="7" name="Google Shape;156;p5">
            <a:extLst>
              <a:ext uri="{FF2B5EF4-FFF2-40B4-BE49-F238E27FC236}">
                <a16:creationId xmlns:a16="http://schemas.microsoft.com/office/drawing/2014/main" id="{AE099C71-6DBB-EF27-AFF3-BC262D146FEA}"/>
              </a:ext>
            </a:extLst>
          </p:cNvPr>
          <p:cNvSpPr/>
          <p:nvPr/>
        </p:nvSpPr>
        <p:spPr>
          <a:xfrm rot="16200000">
            <a:off x="-2121569" y="2795338"/>
            <a:ext cx="6858002" cy="1267326"/>
          </a:xfrm>
          <a:prstGeom prst="homePlate">
            <a:avLst>
              <a:gd name="adj" fmla="val 50000"/>
            </a:avLst>
          </a:prstGeom>
          <a:solidFill>
            <a:srgbClr val="5898D1"/>
          </a:solidFill>
          <a:ln>
            <a:noFill/>
          </a:ln>
        </p:spPr>
        <p:txBody>
          <a:bodyPr spcFirstLastPara="1" wrap="square" lIns="91425" tIns="0" rIns="182875" bIns="0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</a:pPr>
            <a:r>
              <a:rPr lang="es-MX" sz="4000" b="1" dirty="0">
                <a:ln>
                  <a:solidFill>
                    <a:srgbClr val="99CDFF"/>
                  </a:solidFill>
                </a:ln>
                <a:solidFill>
                  <a:schemeClr val="lt1"/>
                </a:solidFill>
                <a:latin typeface="+mj-lt"/>
                <a:ea typeface="Gill Sans"/>
                <a:cs typeface="Gill Sans"/>
                <a:sym typeface="Gill Sans"/>
              </a:rPr>
              <a:t>VISTA DE DESARROLLO</a:t>
            </a:r>
          </a:p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</a:pPr>
            <a:r>
              <a:rPr lang="es-MX" sz="2000" b="1" dirty="0">
                <a:ln>
                  <a:solidFill>
                    <a:srgbClr val="99CDFF"/>
                  </a:solidFill>
                </a:ln>
                <a:solidFill>
                  <a:schemeClr val="lt1"/>
                </a:solidFill>
                <a:latin typeface="+mj-lt"/>
                <a:ea typeface="Gill Sans"/>
                <a:cs typeface="Gill Sans"/>
                <a:sym typeface="Gill Sans"/>
              </a:rPr>
              <a:t>DIAGRAMA DE COMPONENTES</a:t>
            </a:r>
          </a:p>
        </p:txBody>
      </p:sp>
    </p:spTree>
    <p:extLst>
      <p:ext uri="{BB962C8B-B14F-4D97-AF65-F5344CB8AC3E}">
        <p14:creationId xmlns:p14="http://schemas.microsoft.com/office/powerpoint/2010/main" val="2325123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45">
          <a:extLst>
            <a:ext uri="{FF2B5EF4-FFF2-40B4-BE49-F238E27FC236}">
              <a16:creationId xmlns:a16="http://schemas.microsoft.com/office/drawing/2014/main" id="{4BFD9B97-8049-E891-344D-044B0B51B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">
            <a:extLst>
              <a:ext uri="{FF2B5EF4-FFF2-40B4-BE49-F238E27FC236}">
                <a16:creationId xmlns:a16="http://schemas.microsoft.com/office/drawing/2014/main" id="{C917C5A9-14A9-0855-4638-DACF6FBDA4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" name="Google Shape;156;p5">
            <a:extLst>
              <a:ext uri="{FF2B5EF4-FFF2-40B4-BE49-F238E27FC236}">
                <a16:creationId xmlns:a16="http://schemas.microsoft.com/office/drawing/2014/main" id="{F356F2D1-3104-E6D2-5A7F-792FCDD2F612}"/>
              </a:ext>
            </a:extLst>
          </p:cNvPr>
          <p:cNvSpPr/>
          <p:nvPr/>
        </p:nvSpPr>
        <p:spPr>
          <a:xfrm>
            <a:off x="0" y="320840"/>
            <a:ext cx="6858002" cy="1267326"/>
          </a:xfrm>
          <a:prstGeom prst="homePlate">
            <a:avLst>
              <a:gd name="adj" fmla="val 50000"/>
            </a:avLst>
          </a:prstGeom>
          <a:solidFill>
            <a:srgbClr val="CCCCFF"/>
          </a:solidFill>
          <a:ln>
            <a:noFill/>
          </a:ln>
        </p:spPr>
        <p:txBody>
          <a:bodyPr spcFirstLastPara="1" wrap="square" lIns="91425" tIns="0" rIns="182875" bIns="0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</a:pPr>
            <a:r>
              <a:rPr lang="es-MX" sz="4000" b="1" dirty="0">
                <a:ln>
                  <a:solidFill>
                    <a:srgbClr val="5898D1"/>
                  </a:solidFill>
                </a:ln>
                <a:solidFill>
                  <a:schemeClr val="lt1"/>
                </a:solidFill>
                <a:latin typeface="+mj-lt"/>
                <a:ea typeface="Gill Sans"/>
                <a:cs typeface="Gill Sans"/>
                <a:sym typeface="Gill Sans"/>
              </a:rPr>
              <a:t>VISTA DE PROCESOS</a:t>
            </a:r>
          </a:p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</a:pPr>
            <a:r>
              <a:rPr lang="es-MX" sz="2000" b="1" dirty="0">
                <a:ln>
                  <a:solidFill>
                    <a:srgbClr val="5898D1"/>
                  </a:solidFill>
                </a:ln>
                <a:solidFill>
                  <a:schemeClr val="lt1"/>
                </a:solidFill>
                <a:latin typeface="+mj-lt"/>
                <a:ea typeface="Gill Sans"/>
                <a:cs typeface="Gill Sans"/>
                <a:sym typeface="Gill Sans"/>
              </a:rPr>
              <a:t>DIAGRAMA DE PROCESOS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AFDBEA4-2BC0-6310-9CB6-4E73F3963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30" y="2373486"/>
            <a:ext cx="11958140" cy="3351961"/>
          </a:xfrm>
          <a:prstGeom prst="rect">
            <a:avLst/>
          </a:prstGeom>
          <a:ln w="38100">
            <a:solidFill>
              <a:srgbClr val="CCCCFF"/>
            </a:solidFill>
            <a:prstDash val="dash"/>
          </a:ln>
        </p:spPr>
      </p:pic>
    </p:spTree>
    <p:extLst>
      <p:ext uri="{BB962C8B-B14F-4D97-AF65-F5344CB8AC3E}">
        <p14:creationId xmlns:p14="http://schemas.microsoft.com/office/powerpoint/2010/main" val="4189091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45">
          <a:extLst>
            <a:ext uri="{FF2B5EF4-FFF2-40B4-BE49-F238E27FC236}">
              <a16:creationId xmlns:a16="http://schemas.microsoft.com/office/drawing/2014/main" id="{BA041786-625A-E7B3-0E29-FC4A27E36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">
            <a:extLst>
              <a:ext uri="{FF2B5EF4-FFF2-40B4-BE49-F238E27FC236}">
                <a16:creationId xmlns:a16="http://schemas.microsoft.com/office/drawing/2014/main" id="{8D6E07C6-9790-4CE2-E864-F114A809C4A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" name="Google Shape;156;p5">
            <a:extLst>
              <a:ext uri="{FF2B5EF4-FFF2-40B4-BE49-F238E27FC236}">
                <a16:creationId xmlns:a16="http://schemas.microsoft.com/office/drawing/2014/main" id="{C12BDC59-50C1-CA19-1713-ED45EED57AB4}"/>
              </a:ext>
            </a:extLst>
          </p:cNvPr>
          <p:cNvSpPr/>
          <p:nvPr/>
        </p:nvSpPr>
        <p:spPr>
          <a:xfrm rot="16200000">
            <a:off x="-2089485" y="2795336"/>
            <a:ext cx="6858002" cy="1267326"/>
          </a:xfrm>
          <a:prstGeom prst="homePlate">
            <a:avLst>
              <a:gd name="adj" fmla="val 50000"/>
            </a:avLst>
          </a:prstGeom>
          <a:solidFill>
            <a:srgbClr val="FF99FF"/>
          </a:solidFill>
          <a:ln>
            <a:noFill/>
          </a:ln>
        </p:spPr>
        <p:txBody>
          <a:bodyPr spcFirstLastPara="1" wrap="square" lIns="91425" tIns="0" rIns="182875" bIns="0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</a:pPr>
            <a:r>
              <a:rPr lang="es-MX" sz="4000" b="1" dirty="0">
                <a:solidFill>
                  <a:schemeClr val="lt1"/>
                </a:solidFill>
                <a:latin typeface="+mj-lt"/>
                <a:ea typeface="Gill Sans"/>
                <a:cs typeface="Gill Sans"/>
                <a:sym typeface="Gill Sans"/>
              </a:rPr>
              <a:t>VISTA FISICA</a:t>
            </a:r>
          </a:p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</a:pPr>
            <a:r>
              <a:rPr lang="es-MX" sz="2000" b="1" dirty="0">
                <a:solidFill>
                  <a:schemeClr val="lt1"/>
                </a:solidFill>
                <a:latin typeface="+mj-lt"/>
                <a:ea typeface="Gill Sans"/>
                <a:cs typeface="Gill Sans"/>
                <a:sym typeface="Gill Sans"/>
              </a:rPr>
              <a:t>DIAGRAMA DE DESPLIEGUE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D534E35-B782-D6EF-A536-77CFFBD10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0832" y="216072"/>
            <a:ext cx="8123515" cy="6425854"/>
          </a:xfrm>
          <a:prstGeom prst="rect">
            <a:avLst/>
          </a:prstGeom>
          <a:ln w="28575">
            <a:solidFill>
              <a:srgbClr val="FF99FF"/>
            </a:solidFill>
            <a:prstDash val="dash"/>
          </a:ln>
        </p:spPr>
      </p:pic>
    </p:spTree>
    <p:extLst>
      <p:ext uri="{BB962C8B-B14F-4D97-AF65-F5344CB8AC3E}">
        <p14:creationId xmlns:p14="http://schemas.microsoft.com/office/powerpoint/2010/main" val="2421820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/>
          <p:cNvSpPr txBox="1">
            <a:spLocks noGrp="1"/>
          </p:cNvSpPr>
          <p:nvPr>
            <p:ph type="title"/>
          </p:nvPr>
        </p:nvSpPr>
        <p:spPr>
          <a:xfrm>
            <a:off x="3987726" y="183329"/>
            <a:ext cx="4216547" cy="1469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mpact"/>
              <a:buNone/>
            </a:pPr>
            <a:r>
              <a:rPr lang="es-MX" sz="4800" dirty="0">
                <a:solidFill>
                  <a:schemeClr val="accent1"/>
                </a:solidFill>
              </a:rPr>
              <a:t>CONCLUSIÓN</a:t>
            </a:r>
            <a:endParaRPr sz="6000" dirty="0">
              <a:solidFill>
                <a:schemeClr val="accent1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B652B96-93A9-6FC7-7C8C-D1CE3FF1F35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7895" t="16831" r="6974" b="9326"/>
          <a:stretch>
            <a:fillRect/>
          </a:stretch>
        </p:blipFill>
        <p:spPr>
          <a:xfrm>
            <a:off x="1882618" y="1840702"/>
            <a:ext cx="7979137" cy="377792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7CCAA21-036B-18A8-90BD-9A6B0DC7529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</a:blip>
          <a:srcRect l="19491" t="10145" r="8237" b="5089"/>
          <a:stretch>
            <a:fillRect/>
          </a:stretch>
        </p:blipFill>
        <p:spPr>
          <a:xfrm>
            <a:off x="4410483" y="3729664"/>
            <a:ext cx="4600005" cy="29450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istintivo">
  <a:themeElements>
    <a:clrScheme name="Distintivo">
      <a:dk1>
        <a:srgbClr val="000000"/>
      </a:dk1>
      <a:lt1>
        <a:srgbClr val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2453</TotalTime>
  <Words>439</Words>
  <Application>Microsoft Office PowerPoint</Application>
  <PresentationFormat>Panorámica</PresentationFormat>
  <Paragraphs>106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Impact</vt:lpstr>
      <vt:lpstr>Wingdings</vt:lpstr>
      <vt:lpstr>Arial</vt:lpstr>
      <vt:lpstr>Cambria</vt:lpstr>
      <vt:lpstr>Gill Sans</vt:lpstr>
      <vt:lpstr>Distintivo</vt:lpstr>
      <vt:lpstr>EXPERIENCIA 2 FECHA DE ENTREGA: 28-05-2026</vt:lpstr>
      <vt:lpstr>La biblioteca de la Universidad UNILIB presenta procesos manuales que dificultan la gestión de préstamos, devoluciones y acceso a la información, generando ineficiencia en la atención de los usuarios.</vt:lpstr>
      <vt:lpstr>Presentación de PowerPoint</vt:lpstr>
      <vt:lpstr>AUP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DANIELA MATILDE DEL CARMEN CASTILLO TRUJILLO</dc:creator>
  <cp:lastModifiedBy>DANIELA MATILDE DEL CARMEN CASTILLO TRUJILLO</cp:lastModifiedBy>
  <cp:revision>9</cp:revision>
  <dcterms:created xsi:type="dcterms:W3CDTF">2026-04-16T00:43:03Z</dcterms:created>
  <dcterms:modified xsi:type="dcterms:W3CDTF">2026-05-31T02:33:15Z</dcterms:modified>
</cp:coreProperties>
</file>