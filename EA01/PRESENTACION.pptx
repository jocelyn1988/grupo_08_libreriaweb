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embeddedFontLs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Gill Sans" panose="020B0604020202020204" charset="0"/>
      <p:regular r:id="rId18"/>
      <p:bold r:id="rId19"/>
    </p:embeddedFont>
    <p:embeddedFont>
      <p:font typeface="Impact" panose="020B0806030902050204" pitchFamily="34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d9SYAVMPeUB3SGwn1puytu+MN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05C59E-0678-4586-86DD-07CB2BC6AF1A}">
  <a:tblStyle styleId="{8505C59E-0678-4586-86DD-07CB2BC6AF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bg>
      <p:bgPr>
        <a:solidFill>
          <a:schemeClr val="accen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 title="scalloped circle"/>
          <p:cNvSpPr/>
          <p:nvPr/>
        </p:nvSpPr>
        <p:spPr>
          <a:xfrm>
            <a:off x="3557016" y="630936"/>
            <a:ext cx="5235575" cy="5229225"/>
          </a:xfrm>
          <a:custGeom>
            <a:avLst/>
            <a:gdLst/>
            <a:ahLst/>
            <a:cxnLst/>
            <a:rect l="l" t="t" r="r" b="b"/>
            <a:pathLst>
              <a:path w="3298" h="3294" extrusionOk="0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" name="Google Shape;15;p12"/>
          <p:cNvSpPr txBox="1"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0"/>
              <a:buFont typeface="Impact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 b="1" i="0" cap="none">
                <a:solidFill>
                  <a:schemeClr val="dk2"/>
                </a:solidFill>
              </a:defRPr>
            </a:lvl1pPr>
            <a:lvl2pPr lvl="1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dt" idx="10"/>
          </p:nvPr>
        </p:nvSpPr>
        <p:spPr>
          <a:xfrm>
            <a:off x="1078523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5E0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ftr" idx="11"/>
          </p:nvPr>
        </p:nvSpPr>
        <p:spPr>
          <a:xfrm>
            <a:off x="4180332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5E0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9067218" y="6375679"/>
            <a:ext cx="2329723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20" name="Google Shape;20;p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marL="4114800" lvl="8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1257300" y="2286000"/>
            <a:ext cx="4800600" cy="3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marL="4114800" lvl="8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2"/>
          </p:nvPr>
        </p:nvSpPr>
        <p:spPr>
          <a:xfrm>
            <a:off x="6647796" y="2286000"/>
            <a:ext cx="4800600" cy="3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marL="4114800" lvl="8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bg>
      <p:bgPr>
        <a:solidFill>
          <a:schemeClr val="dk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400"/>
              <a:buFont typeface="Impact"/>
              <a:buNone/>
              <a:defRPr sz="8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 b="1" i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3236546" y="6375679"/>
            <a:ext cx="1493947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5279064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9942434" y="6375679"/>
            <a:ext cx="1487566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grpSp>
        <p:nvGrpSpPr>
          <p:cNvPr id="40" name="Google Shape;40;p15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41" name="Google Shape;41;p15" title="left scallop shape"/>
            <p:cNvSpPr/>
            <p:nvPr/>
          </p:nvSpPr>
          <p:spPr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l" t="t" r="r" b="b"/>
              <a:pathLst>
                <a:path w="1773" h="4320" extrusionOk="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2" name="Google Shape;42;p15" title="left scallop inline"/>
            <p:cNvSpPr/>
            <p:nvPr/>
          </p:nvSpPr>
          <p:spPr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l" t="t" r="r" b="b"/>
              <a:pathLst>
                <a:path w="1037" h="4320" extrusionOk="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 sz="19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2"/>
          </p:nvPr>
        </p:nvSpPr>
        <p:spPr>
          <a:xfrm>
            <a:off x="1257300" y="2909102"/>
            <a:ext cx="4800600" cy="2996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marL="4114800" lvl="8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3"/>
          </p:nvPr>
        </p:nvSpPr>
        <p:spPr>
          <a:xfrm>
            <a:off x="6633864" y="2199633"/>
            <a:ext cx="4800600" cy="632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 sz="19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body" idx="4"/>
          </p:nvPr>
        </p:nvSpPr>
        <p:spPr>
          <a:xfrm>
            <a:off x="6633864" y="2909102"/>
            <a:ext cx="4800600" cy="2996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marL="4114800" lvl="8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dt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sldNum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dt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ft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sldNum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 title="right scallop background shape"/>
          <p:cNvSpPr/>
          <p:nvPr/>
        </p:nvSpPr>
        <p:spPr>
          <a:xfrm>
            <a:off x="7389812" y="0"/>
            <a:ext cx="4802188" cy="6858000"/>
          </a:xfrm>
          <a:custGeom>
            <a:avLst/>
            <a:gdLst/>
            <a:ahLst/>
            <a:cxnLst/>
            <a:rect l="l" t="t" r="r" b="b"/>
            <a:pathLst>
              <a:path w="3025" h="4320" extrusionOk="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63" name="Google Shape;63;p21"/>
          <p:cNvSpPr txBox="1"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Gill Sans"/>
              <a:buNone/>
              <a:defRPr sz="1900" b="1" i="0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765051" y="920377"/>
            <a:ext cx="6158418" cy="498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  <a:defRPr sz="2000"/>
            </a:lvl6pPr>
            <a:lvl7pPr marL="3200400" lvl="6" indent="-355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–"/>
              <a:defRPr sz="2000"/>
            </a:lvl8pPr>
            <a:lvl9pPr marL="4114800" lvl="8" indent="-355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body" idx="2"/>
          </p:nvPr>
        </p:nvSpPr>
        <p:spPr>
          <a:xfrm>
            <a:off x="8337885" y="1741336"/>
            <a:ext cx="3092115" cy="416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dt" idx="10"/>
          </p:nvPr>
        </p:nvSpPr>
        <p:spPr>
          <a:xfrm>
            <a:off x="765051" y="6375679"/>
            <a:ext cx="1233355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ftr" idx="11"/>
          </p:nvPr>
        </p:nvSpPr>
        <p:spPr>
          <a:xfrm>
            <a:off x="2103620" y="6375679"/>
            <a:ext cx="348217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sldNum" idx="12"/>
          </p:nvPr>
        </p:nvSpPr>
        <p:spPr>
          <a:xfrm>
            <a:off x="5691014" y="6375679"/>
            <a:ext cx="1232456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69" name="Google Shape;69;p2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>
            <a:spLocks noGrp="1"/>
          </p:cNvSpPr>
          <p:nvPr>
            <p:ph type="pic" idx="2"/>
          </p:nvPr>
        </p:nvSpPr>
        <p:spPr>
          <a:xfrm>
            <a:off x="283464" y="0"/>
            <a:ext cx="7355585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2" title="right scallop background shape"/>
          <p:cNvSpPr/>
          <p:nvPr/>
        </p:nvSpPr>
        <p:spPr>
          <a:xfrm>
            <a:off x="7389812" y="0"/>
            <a:ext cx="4802188" cy="6858000"/>
          </a:xfrm>
          <a:custGeom>
            <a:avLst/>
            <a:gdLst/>
            <a:ahLst/>
            <a:cxnLst/>
            <a:rect l="l" t="t" r="r" b="b"/>
            <a:pathLst>
              <a:path w="3025" h="4320" extrusionOk="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3" name="Google Shape;73;p2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Gill Sans"/>
              <a:buNone/>
              <a:defRPr sz="1900" b="1" i="0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body" idx="1"/>
          </p:nvPr>
        </p:nvSpPr>
        <p:spPr>
          <a:xfrm>
            <a:off x="8337883" y="1741336"/>
            <a:ext cx="3092117" cy="416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dt" idx="10"/>
          </p:nvPr>
        </p:nvSpPr>
        <p:spPr>
          <a:xfrm>
            <a:off x="765950" y="6375679"/>
            <a:ext cx="1232456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ftr" idx="11"/>
          </p:nvPr>
        </p:nvSpPr>
        <p:spPr>
          <a:xfrm>
            <a:off x="2103621" y="6375679"/>
            <a:ext cx="3482178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sldNum" idx="12"/>
          </p:nvPr>
        </p:nvSpPr>
        <p:spPr>
          <a:xfrm>
            <a:off x="5687568" y="6375679"/>
            <a:ext cx="123444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body" idx="1"/>
          </p:nvPr>
        </p:nvSpPr>
        <p:spPr>
          <a:xfrm rot="5400000">
            <a:off x="4544044" y="-1006365"/>
            <a:ext cx="3593591" cy="10178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marL="4114800" lvl="8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dt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ft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sldNum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>
            <a:spLocks noGrp="1"/>
          </p:cNvSpPr>
          <p:nvPr>
            <p:ph type="title"/>
          </p:nvPr>
        </p:nvSpPr>
        <p:spPr>
          <a:xfrm rot="5400000">
            <a:off x="8012185" y="2436522"/>
            <a:ext cx="5600404" cy="149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body" idx="1"/>
          </p:nvPr>
        </p:nvSpPr>
        <p:spPr>
          <a:xfrm rot="5400000">
            <a:off x="2653390" y="-1013705"/>
            <a:ext cx="5600405" cy="8392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6pPr>
            <a:lvl7pPr marL="3200400" lvl="6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8pPr>
            <a:lvl9pPr marL="4114800" lvl="8" indent="-3429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dt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ft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sldNum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bg>
      <p:bgPr>
        <a:solidFill>
          <a:schemeClr val="dk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400"/>
              <a:buFont typeface="Impact"/>
              <a:buNone/>
              <a:defRPr sz="8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 b="1" i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3236546" y="6375679"/>
            <a:ext cx="1493947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5279064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9942434" y="6375679"/>
            <a:ext cx="1487566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grpSp>
        <p:nvGrpSpPr>
          <p:cNvPr id="105" name="Google Shape;105;p1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06" name="Google Shape;106;p16" title="left scallop shape"/>
            <p:cNvSpPr/>
            <p:nvPr/>
          </p:nvSpPr>
          <p:spPr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l" t="t" r="r" b="b"/>
              <a:pathLst>
                <a:path w="1773" h="4320" extrusionOk="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07" name="Google Shape;107;p16" title="left scallop inline"/>
            <p:cNvSpPr/>
            <p:nvPr/>
          </p:nvSpPr>
          <p:spPr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l" t="t" r="r" b="b"/>
              <a:pathLst>
                <a:path w="1037" h="4320" extrusionOk="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Font typeface="Impact"/>
              <a:buNone/>
              <a:defRPr sz="5100" b="0" i="0" u="none" strike="noStrike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ill Sans"/>
              <a:buChar char="–"/>
              <a:defRPr sz="18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–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–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ill Sans"/>
              <a:buChar char="–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11" name="Google Shape;11;p11" title="Left scallop edge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558" h="4320" extrusionOk="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100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100"/>
              <a:buFont typeface="Impact"/>
              <a:buNone/>
              <a:defRPr sz="5100" b="0" i="0" u="none" strike="noStrike" cap="non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Gill Sans"/>
              <a:buChar char="–"/>
              <a:defRPr sz="18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ill Sans"/>
              <a:buChar char="–"/>
              <a:defRPr sz="14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ill Sans"/>
              <a:buChar char="–"/>
              <a:defRPr sz="14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ill Sans"/>
              <a:buChar char="–"/>
              <a:defRPr sz="14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175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dt" idx="10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ftr" idx="11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ldNum" idx="12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97" name="Google Shape;97;p14" title="Left scallop edge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558" h="4320" extrusionOk="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14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mc:AlternateContent xmlns:mc="http://schemas.openxmlformats.org/markup-compatibility/2006" xmlns:p14="http://schemas.microsoft.com/office/powerpoint/2010/main">
    <mc:Choice Requires="p14">
      <p:transition spd="slow" p14:dur="1100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"/>
          <p:cNvSpPr txBox="1">
            <a:spLocks noGrp="1"/>
          </p:cNvSpPr>
          <p:nvPr>
            <p:ph type="ctrTitle"/>
          </p:nvPr>
        </p:nvSpPr>
        <p:spPr>
          <a:xfrm>
            <a:off x="5006711" y="4680155"/>
            <a:ext cx="6338958" cy="88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Impact"/>
              <a:buNone/>
            </a:pPr>
            <a:r>
              <a:rPr lang="es-MX" sz="1800"/>
              <a:t>INFORME DE PLANIFICACIÓN Y REQUERIMIENTOS</a:t>
            </a:r>
            <a:br>
              <a:rPr lang="es-MX" sz="1800"/>
            </a:br>
            <a:br>
              <a:rPr lang="es-MX" sz="1800"/>
            </a:b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EXPERIENCIA 1</a:t>
            </a:r>
            <a:br>
              <a:rPr lang="es-MX" sz="1100">
                <a:latin typeface="Calibri"/>
                <a:ea typeface="Calibri"/>
                <a:cs typeface="Calibri"/>
                <a:sym typeface="Calibri"/>
              </a:rPr>
            </a:b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FECHA DE ENTREGA: 16-04-2026</a:t>
            </a:r>
            <a:br>
              <a:rPr lang="es-MX" sz="1100">
                <a:latin typeface="Calibri"/>
                <a:ea typeface="Calibri"/>
                <a:cs typeface="Calibri"/>
                <a:sym typeface="Calibri"/>
              </a:rPr>
            </a:br>
            <a:br>
              <a:rPr lang="es-MX" sz="1100">
                <a:latin typeface="Calibri"/>
                <a:ea typeface="Calibri"/>
                <a:cs typeface="Calibri"/>
                <a:sym typeface="Calibri"/>
              </a:rPr>
            </a:br>
            <a:br>
              <a:rPr lang="es-MX" sz="1100"/>
            </a:br>
            <a:endParaRPr sz="1100"/>
          </a:p>
        </p:txBody>
      </p:sp>
      <p:sp>
        <p:nvSpPr>
          <p:cNvPr id="114" name="Google Shape;114;p1"/>
          <p:cNvSpPr/>
          <p:nvPr/>
        </p:nvSpPr>
        <p:spPr>
          <a:xfrm>
            <a:off x="0" y="0"/>
            <a:ext cx="4272784" cy="6858000"/>
          </a:xfrm>
          <a:custGeom>
            <a:avLst/>
            <a:gdLst/>
            <a:ahLst/>
            <a:cxnLst/>
            <a:rect l="l" t="t" r="r" b="b"/>
            <a:pathLst>
              <a:path w="4272784" h="6858000" extrusionOk="0">
                <a:moveTo>
                  <a:pt x="0" y="0"/>
                </a:moveTo>
                <a:lnTo>
                  <a:pt x="4082989" y="0"/>
                </a:lnTo>
                <a:lnTo>
                  <a:pt x="4088029" y="66675"/>
                </a:lnTo>
                <a:lnTo>
                  <a:pt x="4096426" y="122237"/>
                </a:lnTo>
                <a:lnTo>
                  <a:pt x="4106504" y="174625"/>
                </a:lnTo>
                <a:lnTo>
                  <a:pt x="4123300" y="217487"/>
                </a:lnTo>
                <a:lnTo>
                  <a:pt x="4140096" y="260350"/>
                </a:lnTo>
                <a:lnTo>
                  <a:pt x="4160251" y="296862"/>
                </a:lnTo>
                <a:lnTo>
                  <a:pt x="4180406" y="334962"/>
                </a:lnTo>
                <a:lnTo>
                  <a:pt x="4198882" y="369887"/>
                </a:lnTo>
                <a:lnTo>
                  <a:pt x="4217357" y="409575"/>
                </a:lnTo>
                <a:lnTo>
                  <a:pt x="4234153" y="450850"/>
                </a:lnTo>
                <a:lnTo>
                  <a:pt x="4249270" y="496887"/>
                </a:lnTo>
                <a:lnTo>
                  <a:pt x="4261027" y="546100"/>
                </a:lnTo>
                <a:lnTo>
                  <a:pt x="4269425" y="606425"/>
                </a:lnTo>
                <a:lnTo>
                  <a:pt x="4272784" y="673100"/>
                </a:lnTo>
                <a:lnTo>
                  <a:pt x="4269425" y="744537"/>
                </a:lnTo>
                <a:lnTo>
                  <a:pt x="4261027" y="801687"/>
                </a:lnTo>
                <a:lnTo>
                  <a:pt x="4249270" y="854075"/>
                </a:lnTo>
                <a:lnTo>
                  <a:pt x="4234153" y="901700"/>
                </a:lnTo>
                <a:lnTo>
                  <a:pt x="4217357" y="942975"/>
                </a:lnTo>
                <a:lnTo>
                  <a:pt x="4197202" y="981075"/>
                </a:lnTo>
                <a:lnTo>
                  <a:pt x="4177047" y="1017587"/>
                </a:lnTo>
                <a:lnTo>
                  <a:pt x="4156892" y="1055687"/>
                </a:lnTo>
                <a:lnTo>
                  <a:pt x="4138416" y="1095375"/>
                </a:lnTo>
                <a:lnTo>
                  <a:pt x="4119940" y="1136650"/>
                </a:lnTo>
                <a:lnTo>
                  <a:pt x="4104825" y="1182687"/>
                </a:lnTo>
                <a:lnTo>
                  <a:pt x="4094747" y="1235075"/>
                </a:lnTo>
                <a:lnTo>
                  <a:pt x="4084669" y="1295400"/>
                </a:lnTo>
                <a:lnTo>
                  <a:pt x="4082989" y="1363662"/>
                </a:lnTo>
                <a:lnTo>
                  <a:pt x="4084669" y="1431925"/>
                </a:lnTo>
                <a:lnTo>
                  <a:pt x="4094747" y="1492250"/>
                </a:lnTo>
                <a:lnTo>
                  <a:pt x="4104825" y="1544637"/>
                </a:lnTo>
                <a:lnTo>
                  <a:pt x="4119940" y="1589087"/>
                </a:lnTo>
                <a:lnTo>
                  <a:pt x="4138416" y="1631950"/>
                </a:lnTo>
                <a:lnTo>
                  <a:pt x="4156892" y="1671637"/>
                </a:lnTo>
                <a:lnTo>
                  <a:pt x="4177047" y="1708150"/>
                </a:lnTo>
                <a:lnTo>
                  <a:pt x="4197202" y="1743075"/>
                </a:lnTo>
                <a:lnTo>
                  <a:pt x="4217357" y="1782762"/>
                </a:lnTo>
                <a:lnTo>
                  <a:pt x="4234153" y="1824037"/>
                </a:lnTo>
                <a:lnTo>
                  <a:pt x="4249270" y="1870075"/>
                </a:lnTo>
                <a:lnTo>
                  <a:pt x="4261027" y="1922462"/>
                </a:lnTo>
                <a:lnTo>
                  <a:pt x="4269425" y="1982787"/>
                </a:lnTo>
                <a:lnTo>
                  <a:pt x="4272784" y="2051050"/>
                </a:lnTo>
                <a:lnTo>
                  <a:pt x="4269425" y="2119312"/>
                </a:lnTo>
                <a:lnTo>
                  <a:pt x="4261027" y="2179637"/>
                </a:lnTo>
                <a:lnTo>
                  <a:pt x="4249270" y="2232025"/>
                </a:lnTo>
                <a:lnTo>
                  <a:pt x="4234153" y="2278062"/>
                </a:lnTo>
                <a:lnTo>
                  <a:pt x="4217357" y="2319337"/>
                </a:lnTo>
                <a:lnTo>
                  <a:pt x="4197202" y="2359025"/>
                </a:lnTo>
                <a:lnTo>
                  <a:pt x="4177047" y="2395537"/>
                </a:lnTo>
                <a:lnTo>
                  <a:pt x="4156892" y="2433637"/>
                </a:lnTo>
                <a:lnTo>
                  <a:pt x="4138416" y="2471737"/>
                </a:lnTo>
                <a:lnTo>
                  <a:pt x="4119940" y="2513012"/>
                </a:lnTo>
                <a:lnTo>
                  <a:pt x="4104825" y="2560637"/>
                </a:lnTo>
                <a:lnTo>
                  <a:pt x="4094747" y="2613025"/>
                </a:lnTo>
                <a:lnTo>
                  <a:pt x="4084669" y="2671762"/>
                </a:lnTo>
                <a:lnTo>
                  <a:pt x="4082989" y="2741612"/>
                </a:lnTo>
                <a:lnTo>
                  <a:pt x="4084669" y="2809875"/>
                </a:lnTo>
                <a:lnTo>
                  <a:pt x="4094747" y="2868612"/>
                </a:lnTo>
                <a:lnTo>
                  <a:pt x="4104825" y="2922587"/>
                </a:lnTo>
                <a:lnTo>
                  <a:pt x="4119940" y="2967037"/>
                </a:lnTo>
                <a:lnTo>
                  <a:pt x="4138416" y="3009900"/>
                </a:lnTo>
                <a:lnTo>
                  <a:pt x="4156892" y="3046412"/>
                </a:lnTo>
                <a:lnTo>
                  <a:pt x="4177047" y="3084512"/>
                </a:lnTo>
                <a:lnTo>
                  <a:pt x="4197202" y="3121025"/>
                </a:lnTo>
                <a:lnTo>
                  <a:pt x="4217357" y="3160712"/>
                </a:lnTo>
                <a:lnTo>
                  <a:pt x="4234153" y="3201987"/>
                </a:lnTo>
                <a:lnTo>
                  <a:pt x="4249270" y="3248025"/>
                </a:lnTo>
                <a:lnTo>
                  <a:pt x="4261027" y="3300412"/>
                </a:lnTo>
                <a:lnTo>
                  <a:pt x="4269425" y="3360737"/>
                </a:lnTo>
                <a:lnTo>
                  <a:pt x="4272784" y="3427412"/>
                </a:lnTo>
                <a:lnTo>
                  <a:pt x="4269425" y="3497262"/>
                </a:lnTo>
                <a:lnTo>
                  <a:pt x="4261027" y="3557587"/>
                </a:lnTo>
                <a:lnTo>
                  <a:pt x="4249270" y="3609975"/>
                </a:lnTo>
                <a:lnTo>
                  <a:pt x="4234153" y="3656012"/>
                </a:lnTo>
                <a:lnTo>
                  <a:pt x="4217357" y="3697287"/>
                </a:lnTo>
                <a:lnTo>
                  <a:pt x="4197202" y="3736975"/>
                </a:lnTo>
                <a:lnTo>
                  <a:pt x="4156892" y="3811587"/>
                </a:lnTo>
                <a:lnTo>
                  <a:pt x="4138416" y="3848100"/>
                </a:lnTo>
                <a:lnTo>
                  <a:pt x="4119940" y="3890962"/>
                </a:lnTo>
                <a:lnTo>
                  <a:pt x="4104825" y="3935412"/>
                </a:lnTo>
                <a:lnTo>
                  <a:pt x="4094747" y="3987800"/>
                </a:lnTo>
                <a:lnTo>
                  <a:pt x="4084669" y="4048125"/>
                </a:lnTo>
                <a:lnTo>
                  <a:pt x="4082989" y="4116387"/>
                </a:lnTo>
                <a:lnTo>
                  <a:pt x="4084669" y="4186237"/>
                </a:lnTo>
                <a:lnTo>
                  <a:pt x="4094747" y="4244975"/>
                </a:lnTo>
                <a:lnTo>
                  <a:pt x="4104825" y="4297362"/>
                </a:lnTo>
                <a:lnTo>
                  <a:pt x="4119940" y="4343400"/>
                </a:lnTo>
                <a:lnTo>
                  <a:pt x="4138416" y="4386262"/>
                </a:lnTo>
                <a:lnTo>
                  <a:pt x="4156892" y="4424362"/>
                </a:lnTo>
                <a:lnTo>
                  <a:pt x="4197202" y="4498975"/>
                </a:lnTo>
                <a:lnTo>
                  <a:pt x="4217357" y="4537075"/>
                </a:lnTo>
                <a:lnTo>
                  <a:pt x="4234153" y="4579937"/>
                </a:lnTo>
                <a:lnTo>
                  <a:pt x="4249270" y="4625975"/>
                </a:lnTo>
                <a:lnTo>
                  <a:pt x="4261027" y="4678362"/>
                </a:lnTo>
                <a:lnTo>
                  <a:pt x="4269425" y="4738687"/>
                </a:lnTo>
                <a:lnTo>
                  <a:pt x="4272784" y="4806950"/>
                </a:lnTo>
                <a:lnTo>
                  <a:pt x="4269425" y="4875212"/>
                </a:lnTo>
                <a:lnTo>
                  <a:pt x="4261027" y="4935537"/>
                </a:lnTo>
                <a:lnTo>
                  <a:pt x="4249270" y="4987925"/>
                </a:lnTo>
                <a:lnTo>
                  <a:pt x="4234153" y="5033962"/>
                </a:lnTo>
                <a:lnTo>
                  <a:pt x="4217357" y="5075237"/>
                </a:lnTo>
                <a:lnTo>
                  <a:pt x="4197202" y="5114925"/>
                </a:lnTo>
                <a:lnTo>
                  <a:pt x="4177047" y="5149850"/>
                </a:lnTo>
                <a:lnTo>
                  <a:pt x="4156892" y="5186362"/>
                </a:lnTo>
                <a:lnTo>
                  <a:pt x="4138416" y="5226050"/>
                </a:lnTo>
                <a:lnTo>
                  <a:pt x="4119940" y="5268912"/>
                </a:lnTo>
                <a:lnTo>
                  <a:pt x="4104825" y="5313362"/>
                </a:lnTo>
                <a:lnTo>
                  <a:pt x="4094747" y="5365750"/>
                </a:lnTo>
                <a:lnTo>
                  <a:pt x="4084669" y="5426075"/>
                </a:lnTo>
                <a:lnTo>
                  <a:pt x="4082989" y="5494337"/>
                </a:lnTo>
                <a:lnTo>
                  <a:pt x="4084669" y="5562600"/>
                </a:lnTo>
                <a:lnTo>
                  <a:pt x="4094747" y="5622925"/>
                </a:lnTo>
                <a:lnTo>
                  <a:pt x="4104825" y="5675312"/>
                </a:lnTo>
                <a:lnTo>
                  <a:pt x="4119940" y="5721350"/>
                </a:lnTo>
                <a:lnTo>
                  <a:pt x="4138416" y="5762625"/>
                </a:lnTo>
                <a:lnTo>
                  <a:pt x="4156892" y="5802312"/>
                </a:lnTo>
                <a:lnTo>
                  <a:pt x="4177047" y="5840412"/>
                </a:lnTo>
                <a:lnTo>
                  <a:pt x="4197202" y="5876925"/>
                </a:lnTo>
                <a:lnTo>
                  <a:pt x="4217357" y="5915025"/>
                </a:lnTo>
                <a:lnTo>
                  <a:pt x="4234153" y="5956300"/>
                </a:lnTo>
                <a:lnTo>
                  <a:pt x="4249270" y="6003925"/>
                </a:lnTo>
                <a:lnTo>
                  <a:pt x="4261027" y="6056312"/>
                </a:lnTo>
                <a:lnTo>
                  <a:pt x="4269425" y="6113462"/>
                </a:lnTo>
                <a:lnTo>
                  <a:pt x="4272784" y="6183312"/>
                </a:lnTo>
                <a:lnTo>
                  <a:pt x="4269425" y="6251575"/>
                </a:lnTo>
                <a:lnTo>
                  <a:pt x="4261027" y="6311900"/>
                </a:lnTo>
                <a:lnTo>
                  <a:pt x="4249270" y="6361112"/>
                </a:lnTo>
                <a:lnTo>
                  <a:pt x="4234153" y="6407150"/>
                </a:lnTo>
                <a:lnTo>
                  <a:pt x="4217357" y="6448425"/>
                </a:lnTo>
                <a:lnTo>
                  <a:pt x="4198882" y="6488112"/>
                </a:lnTo>
                <a:lnTo>
                  <a:pt x="4180406" y="6523037"/>
                </a:lnTo>
                <a:lnTo>
                  <a:pt x="4160251" y="6561137"/>
                </a:lnTo>
                <a:lnTo>
                  <a:pt x="4140096" y="6597650"/>
                </a:lnTo>
                <a:lnTo>
                  <a:pt x="4123300" y="6640512"/>
                </a:lnTo>
                <a:lnTo>
                  <a:pt x="4106504" y="6683375"/>
                </a:lnTo>
                <a:lnTo>
                  <a:pt x="4096426" y="6735762"/>
                </a:lnTo>
                <a:lnTo>
                  <a:pt x="4088029" y="6791325"/>
                </a:lnTo>
                <a:lnTo>
                  <a:pt x="408298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6" name="Google Shape;11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528" y="151606"/>
            <a:ext cx="3479727" cy="6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"/>
          <p:cNvSpPr txBox="1"/>
          <p:nvPr/>
        </p:nvSpPr>
        <p:spPr>
          <a:xfrm>
            <a:off x="5068651" y="782778"/>
            <a:ext cx="6338958" cy="257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lang="es-MX" sz="4000" b="1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SISTEMA DE GESTIÓN BIBLIOTECARIA</a:t>
            </a:r>
            <a:br>
              <a:rPr lang="es-MX" sz="4000" b="1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</a:br>
            <a:endParaRPr sz="4000" b="1" cap="non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lang="es-MX" sz="4000" b="1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UNILI</a:t>
            </a: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283464" y="946093"/>
            <a:ext cx="3737930" cy="285413"/>
          </a:xfrm>
          <a:prstGeom prst="homePlate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s-MX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Ingeniería de Software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 txBox="1">
            <a:spLocks noGrp="1"/>
          </p:cNvSpPr>
          <p:nvPr>
            <p:ph type="subTitle" idx="1"/>
          </p:nvPr>
        </p:nvSpPr>
        <p:spPr>
          <a:xfrm>
            <a:off x="179249" y="4965881"/>
            <a:ext cx="3946361" cy="1892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s-MX" sz="1700" cap="small">
                <a:latin typeface="Calibri"/>
                <a:ea typeface="Calibri"/>
                <a:cs typeface="Calibri"/>
                <a:sym typeface="Calibri"/>
              </a:rPr>
              <a:t>INTEGRANTES GRUPO 8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s-MX" sz="1700">
                <a:latin typeface="Calibri"/>
                <a:ea typeface="Calibri"/>
                <a:cs typeface="Calibri"/>
                <a:sym typeface="Calibri"/>
              </a:rPr>
              <a:t>JOCELYN CERDA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s-MX" sz="1700">
                <a:latin typeface="Calibri"/>
                <a:ea typeface="Calibri"/>
                <a:cs typeface="Calibri"/>
                <a:sym typeface="Calibri"/>
              </a:rPr>
              <a:t>JUAN OPAZO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s-MX" sz="1700">
                <a:latin typeface="Calibri"/>
                <a:ea typeface="Calibri"/>
                <a:cs typeface="Calibri"/>
                <a:sym typeface="Calibri"/>
              </a:rPr>
              <a:t>ESTER GONZÁLEZ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s-MX" sz="1700">
                <a:latin typeface="Calibri"/>
                <a:ea typeface="Calibri"/>
                <a:cs typeface="Calibri"/>
                <a:sym typeface="Calibri"/>
              </a:rPr>
              <a:t>DANIELA CASTILLO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s-MX" sz="1700">
                <a:latin typeface="Calibri"/>
                <a:ea typeface="Calibri"/>
                <a:cs typeface="Calibri"/>
                <a:sym typeface="Calibri"/>
              </a:rPr>
              <a:t>DANIEL MANZOR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5" name="Google Shape;125;p2"/>
          <p:cNvSpPr txBox="1">
            <a:spLocks noGrp="1"/>
          </p:cNvSpPr>
          <p:nvPr>
            <p:ph type="title"/>
          </p:nvPr>
        </p:nvSpPr>
        <p:spPr>
          <a:xfrm>
            <a:off x="182816" y="1095707"/>
            <a:ext cx="4031216" cy="430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Impact"/>
              <a:buNone/>
            </a:pPr>
            <a:r>
              <a:rPr lang="es-MX" sz="2400"/>
              <a:t>LA BIBLIOTECA DE LA UNIVERSIDAD UNILIB PRESENTA PROBLEMAS DEBIDO A PROCESOS MANUALES, LO QUE GENERA INEFICIENCIA EN LA GESTIÓN DE LA INFORMACIÓN Y EN LA ATENCIÓN DE LOS USUARIOS.</a:t>
            </a:r>
            <a:endParaRPr sz="2400"/>
          </a:p>
        </p:txBody>
      </p:sp>
      <p:cxnSp>
        <p:nvCxnSpPr>
          <p:cNvPr id="126" name="Google Shape;126;p2"/>
          <p:cNvCxnSpPr/>
          <p:nvPr/>
        </p:nvCxnSpPr>
        <p:spPr>
          <a:xfrm>
            <a:off x="4663796" y="1962397"/>
            <a:ext cx="0" cy="2933206"/>
          </a:xfrm>
          <a:prstGeom prst="straightConnector1">
            <a:avLst/>
          </a:prstGeom>
          <a:noFill/>
          <a:ln w="222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7" name="Google Shape;127;p2"/>
          <p:cNvSpPr/>
          <p:nvPr/>
        </p:nvSpPr>
        <p:spPr>
          <a:xfrm rot="5400000">
            <a:off x="5774263" y="440267"/>
            <a:ext cx="643467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0" y="0"/>
            <a:ext cx="3737930" cy="285413"/>
          </a:xfrm>
          <a:prstGeom prst="homePlate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s-MX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Introduccion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4976027" y="599768"/>
            <a:ext cx="5652644" cy="1424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None/>
            </a:pPr>
            <a:r>
              <a:rPr lang="es-MX" sz="1700" b="1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  <a:t>Levantamiento preliminar de necesidades</a:t>
            </a:r>
            <a:endParaRPr/>
          </a:p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∙"/>
            </a:pPr>
            <a:r>
              <a:rPr lang="es-MX" sz="1500" b="1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Digitalizar procesos</a:t>
            </a:r>
            <a:endParaRPr/>
          </a:p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∙"/>
            </a:pPr>
            <a:r>
              <a:rPr lang="es-MX" sz="1500" b="1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Catalogo en línea</a:t>
            </a:r>
            <a:endParaRPr/>
          </a:p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∙"/>
            </a:pPr>
            <a:r>
              <a:rPr lang="es-MX" sz="1500" b="1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Reportes </a:t>
            </a:r>
            <a:endParaRPr/>
          </a:p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∙"/>
            </a:pPr>
            <a:r>
              <a:rPr lang="es-MX" sz="1500" b="1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Mejorar la experiencia de usuario</a:t>
            </a:r>
            <a:endParaRPr sz="1500" b="1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endParaRPr sz="1600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4976028" y="2023821"/>
            <a:ext cx="6453969" cy="108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s-MX" sz="1700" b="1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  <a:t>Alcance general del sistema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s-MX" sz="1500" b="1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El sistema propuesto corresponde a una plataforma web que permitirá gestionar usuarios, libros y prestamos. Considerando accesos diferenciados según el tipo de usuario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4976028" y="3447874"/>
            <a:ext cx="6453969" cy="1486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25000" lnSpcReduction="2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s-MX" sz="6400" b="1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  <a:t>Principales requerimientos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s-MX" sz="5600" b="1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Gestión de usuarios y control de acceso por roles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s-MX" sz="5600" b="1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Registro y administración de libros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s-MX" sz="5600" b="1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Gestión de préstamos y devoluciones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s-MX" sz="5600" b="1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Consulta de catálogo en línea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s-MX" sz="5600" b="1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Generación de reportes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4976028" y="5063613"/>
            <a:ext cx="6453969" cy="108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lang="es-MX" sz="1600" b="1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  <a:t>Metodología propuesta  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lang="es-MX" sz="160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AUP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0" y="0"/>
            <a:ext cx="7569200" cy="6858000"/>
          </a:xfrm>
          <a:custGeom>
            <a:avLst/>
            <a:gdLst/>
            <a:ahLst/>
            <a:cxnLst/>
            <a:rect l="l" t="t" r="r" b="b"/>
            <a:pathLst>
              <a:path w="7569200" h="6858000" extrusionOk="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BDB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9" name="Google Shape;139;p3"/>
          <p:cNvSpPr txBox="1">
            <a:spLocks noGrp="1"/>
          </p:cNvSpPr>
          <p:nvPr>
            <p:ph type="title"/>
          </p:nvPr>
        </p:nvSpPr>
        <p:spPr>
          <a:xfrm>
            <a:off x="754144" y="484631"/>
            <a:ext cx="6340519" cy="1638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Font typeface="Impact"/>
              <a:buNone/>
            </a:pP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1" name="Google Shape;14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464" y="-1"/>
            <a:ext cx="1218552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8" name="Google Shape;148;p4"/>
          <p:cNvSpPr txBox="1">
            <a:spLocks noGrp="1"/>
          </p:cNvSpPr>
          <p:nvPr>
            <p:ph type="body" idx="1"/>
          </p:nvPr>
        </p:nvSpPr>
        <p:spPr>
          <a:xfrm>
            <a:off x="369990" y="643466"/>
            <a:ext cx="3582085" cy="6117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-MX" sz="1700" b="1">
                <a:solidFill>
                  <a:srgbClr val="00B050"/>
                </a:solidFill>
              </a:rPr>
              <a:t>Qué hará el sistema</a:t>
            </a:r>
            <a:endParaRPr sz="1200">
              <a:solidFill>
                <a:srgbClr val="00B050"/>
              </a:solidFill>
            </a:endParaRPr>
          </a:p>
          <a:p>
            <a:pPr marL="228600" lvl="0" indent="-228600" algn="just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ct val="100000"/>
              <a:buChar char="•"/>
            </a:pPr>
            <a:r>
              <a:rPr lang="es-MX" sz="1600"/>
              <a:t>Gestionar de forma automatizada y centralizada los procesos de préstamo y devolución.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ct val="100000"/>
              <a:buChar char="•"/>
            </a:pPr>
            <a:r>
              <a:rPr lang="es-MX" sz="1600"/>
              <a:t>Administración de usuarios, catálogo de libros, e información estadística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ct val="100000"/>
              <a:buChar char="•"/>
            </a:pPr>
            <a:r>
              <a:rPr lang="es-MX" sz="1600"/>
              <a:t>Mejorando la experiencia de uso y reduciendo errores operacionales.</a:t>
            </a:r>
            <a:br>
              <a:rPr lang="es-MX" sz="1200"/>
            </a:br>
            <a:endParaRPr sz="1200"/>
          </a:p>
          <a:p>
            <a:pPr marL="0" lvl="0" indent="0" algn="just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ct val="100000"/>
              <a:buNone/>
            </a:pPr>
            <a:r>
              <a:rPr lang="es-MX" sz="1700" b="1">
                <a:solidFill>
                  <a:srgbClr val="FF0000"/>
                </a:solidFill>
              </a:rPr>
              <a:t>Qué no hará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ct val="100000"/>
              <a:buChar char="•"/>
            </a:pPr>
            <a:r>
              <a:rPr lang="es-MX" sz="1600"/>
              <a:t>No integrará sistemas externos en esta etapa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ct val="100000"/>
              <a:buChar char="•"/>
            </a:pPr>
            <a:r>
              <a:rPr lang="es-MX" sz="1600"/>
              <a:t>No contará con aplicación móvil nativa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ct val="100000"/>
              <a:buChar char="•"/>
            </a:pPr>
            <a:r>
              <a:rPr lang="es-MX" sz="1600"/>
              <a:t>No incluirá gestión financiera o contable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ct val="100000"/>
              <a:buChar char="•"/>
            </a:pPr>
            <a:r>
              <a:rPr lang="es-MX" sz="1600"/>
              <a:t>No implementará reservas avanzadas (fase futura)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ct val="100000"/>
              <a:buChar char="•"/>
            </a:pPr>
            <a:r>
              <a:rPr lang="es-MX" sz="1600"/>
              <a:t> No incluirá préstamo interbibliotecario (fase futura)</a:t>
            </a:r>
            <a:endParaRPr sz="1600" b="1">
              <a:solidFill>
                <a:srgbClr val="FF0000"/>
              </a:solidFill>
            </a:endParaRPr>
          </a:p>
          <a:p>
            <a:pPr marL="228600" lvl="0" indent="-163830" algn="just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ct val="100000"/>
              <a:buNone/>
            </a:pPr>
            <a:endParaRPr sz="1200"/>
          </a:p>
          <a:p>
            <a:pPr marL="0" lvl="0" indent="0" algn="just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ct val="100000"/>
              <a:buNone/>
            </a:pPr>
            <a:r>
              <a:rPr lang="es-MX" sz="1700" b="1">
                <a:solidFill>
                  <a:srgbClr val="002060"/>
                </a:solidFill>
              </a:rPr>
              <a:t>Uuarios involucrados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ct val="100000"/>
              <a:buChar char="•"/>
            </a:pPr>
            <a:r>
              <a:rPr lang="es-MX" sz="1900"/>
              <a:t>Estudiantes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ct val="100000"/>
              <a:buChar char="•"/>
            </a:pPr>
            <a:r>
              <a:rPr lang="es-MX" sz="1900"/>
              <a:t>Docentes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ct val="100000"/>
              <a:buChar char="•"/>
            </a:pPr>
            <a:r>
              <a:rPr lang="es-MX" sz="1900"/>
              <a:t>Bibliotecario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ct val="100000"/>
              <a:buChar char="•"/>
            </a:pPr>
            <a:r>
              <a:rPr lang="es-MX" sz="1900"/>
              <a:t>Administrador</a:t>
            </a:r>
            <a:endParaRPr sz="1900"/>
          </a:p>
        </p:txBody>
      </p:sp>
      <p:sp>
        <p:nvSpPr>
          <p:cNvPr id="149" name="Google Shape;149;p4"/>
          <p:cNvSpPr/>
          <p:nvPr/>
        </p:nvSpPr>
        <p:spPr>
          <a:xfrm>
            <a:off x="4038601" y="643467"/>
            <a:ext cx="7391400" cy="55649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0" name="Google Shape;15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2075" y="643467"/>
            <a:ext cx="7477926" cy="556491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4"/>
          <p:cNvSpPr/>
          <p:nvPr/>
        </p:nvSpPr>
        <p:spPr>
          <a:xfrm>
            <a:off x="283464" y="96972"/>
            <a:ext cx="3737930" cy="285413"/>
          </a:xfrm>
          <a:prstGeom prst="homePlate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s-MX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ALCANCES DEL SISTEMA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0" y="96972"/>
            <a:ext cx="3737930" cy="285413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</a:pPr>
            <a:r>
              <a:rPr lang="es-MX" sz="14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METODOLOGIA PROPUESTA</a:t>
            </a:r>
            <a:endParaRPr/>
          </a:p>
        </p:txBody>
      </p:sp>
      <p:sp>
        <p:nvSpPr>
          <p:cNvPr id="157" name="Google Shape;157;p5"/>
          <p:cNvSpPr txBox="1">
            <a:spLocks noGrp="1"/>
          </p:cNvSpPr>
          <p:nvPr>
            <p:ph type="title"/>
          </p:nvPr>
        </p:nvSpPr>
        <p:spPr>
          <a:xfrm>
            <a:off x="5168552" y="572586"/>
            <a:ext cx="2299496" cy="131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Impact"/>
              <a:buNone/>
            </a:pPr>
            <a:r>
              <a:rPr lang="es-MX" sz="8000" dirty="0">
                <a:solidFill>
                  <a:srgbClr val="0070C0"/>
                </a:solidFill>
              </a:rPr>
              <a:t>A.U.P</a:t>
            </a:r>
            <a:endParaRPr sz="8000" dirty="0">
              <a:solidFill>
                <a:srgbClr val="0070C0"/>
              </a:solidFill>
            </a:endParaRPr>
          </a:p>
        </p:txBody>
      </p:sp>
      <p:grpSp>
        <p:nvGrpSpPr>
          <p:cNvPr id="158" name="Google Shape;158;p5"/>
          <p:cNvGrpSpPr/>
          <p:nvPr/>
        </p:nvGrpSpPr>
        <p:grpSpPr>
          <a:xfrm>
            <a:off x="989655" y="2670262"/>
            <a:ext cx="10702367" cy="1517475"/>
            <a:chOff x="774072" y="1315064"/>
            <a:chExt cx="10702367" cy="1517475"/>
          </a:xfrm>
        </p:grpSpPr>
        <p:sp>
          <p:nvSpPr>
            <p:cNvPr id="159" name="Google Shape;159;p5"/>
            <p:cNvSpPr/>
            <p:nvPr/>
          </p:nvSpPr>
          <p:spPr>
            <a:xfrm>
              <a:off x="3301390" y="2028079"/>
              <a:ext cx="137004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F7B32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 txBox="1"/>
            <p:nvPr/>
          </p:nvSpPr>
          <p:spPr>
            <a:xfrm>
              <a:off x="3365702" y="2070891"/>
              <a:ext cx="8380" cy="58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Gill Sans"/>
                <a:buNone/>
              </a:pPr>
              <a:endParaRPr sz="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774072" y="1315064"/>
              <a:ext cx="2529118" cy="1517470"/>
            </a:xfrm>
            <a:prstGeom prst="rect">
              <a:avLst/>
            </a:prstGeom>
            <a:solidFill>
              <a:srgbClr val="F7B321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 txBox="1"/>
            <p:nvPr/>
          </p:nvSpPr>
          <p:spPr>
            <a:xfrm>
              <a:off x="774072" y="1315064"/>
              <a:ext cx="2529118" cy="15174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3925" tIns="130075" rIns="123925" bIns="1300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Gill Sans"/>
                <a:buNone/>
              </a:pPr>
              <a:r>
                <a:rPr lang="es-MX" sz="2300" dirty="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Permite un desarrollo iterativo e incremental</a:t>
              </a:r>
              <a:endParaRPr sz="23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5998112" y="2028079"/>
              <a:ext cx="221831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F7B32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6102717" y="2070891"/>
              <a:ext cx="12621" cy="58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Gill Sans"/>
                <a:buNone/>
              </a:pPr>
              <a:endParaRPr sz="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3470794" y="1315064"/>
              <a:ext cx="2529118" cy="1517470"/>
            </a:xfrm>
            <a:prstGeom prst="rect">
              <a:avLst/>
            </a:prstGeom>
            <a:solidFill>
              <a:srgbClr val="F7B321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 txBox="1"/>
            <p:nvPr/>
          </p:nvSpPr>
          <p:spPr>
            <a:xfrm>
              <a:off x="3470794" y="1315064"/>
              <a:ext cx="2529118" cy="15174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3925" tIns="130075" rIns="123925" bIns="1300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Gill Sans"/>
                <a:buNone/>
              </a:pPr>
              <a:r>
                <a:rPr lang="es-MX" sz="23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Se adapta a cambios durante el proyecto</a:t>
              </a:r>
              <a:endParaRPr sz="23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8779662" y="2028079"/>
              <a:ext cx="135259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75170" y="60000"/>
                  </a:lnTo>
                  <a:lnTo>
                    <a:pt x="75170" y="60007"/>
                  </a:lnTo>
                  <a:lnTo>
                    <a:pt x="120000" y="60007"/>
                  </a:lnTo>
                </a:path>
              </a:pathLst>
            </a:custGeom>
            <a:noFill/>
            <a:ln w="9525" cap="flat" cmpd="sng">
              <a:solidFill>
                <a:srgbClr val="F7B32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 txBox="1"/>
            <p:nvPr/>
          </p:nvSpPr>
          <p:spPr>
            <a:xfrm>
              <a:off x="8843145" y="2070891"/>
              <a:ext cx="8292" cy="58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Gill Sans"/>
                <a:buNone/>
              </a:pPr>
              <a:endParaRPr sz="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6252344" y="1315064"/>
              <a:ext cx="2529118" cy="1517470"/>
            </a:xfrm>
            <a:prstGeom prst="rect">
              <a:avLst/>
            </a:prstGeom>
            <a:solidFill>
              <a:srgbClr val="F7B321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 txBox="1"/>
            <p:nvPr/>
          </p:nvSpPr>
          <p:spPr>
            <a:xfrm>
              <a:off x="6252344" y="1315064"/>
              <a:ext cx="2529118" cy="15174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3925" tIns="130075" rIns="123925" bIns="1300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Gill Sans"/>
                <a:buNone/>
              </a:pPr>
              <a:r>
                <a:rPr lang="es-MX" sz="23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Facilita la organización por fases</a:t>
              </a:r>
              <a:endParaRPr sz="23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8947321" y="1315069"/>
              <a:ext cx="2529118" cy="1517470"/>
            </a:xfrm>
            <a:prstGeom prst="rect">
              <a:avLst/>
            </a:prstGeom>
            <a:solidFill>
              <a:srgbClr val="F7B321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 txBox="1"/>
            <p:nvPr/>
          </p:nvSpPr>
          <p:spPr>
            <a:xfrm>
              <a:off x="8947321" y="1315069"/>
              <a:ext cx="2529118" cy="15174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3925" tIns="130075" rIns="123925" bIns="1300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Gill Sans"/>
                <a:buNone/>
              </a:pPr>
              <a:r>
                <a:rPr lang="es-MX" sz="23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Adecuada para proyectos con alcance definido en corto tiempo</a:t>
              </a:r>
              <a:endParaRPr/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7ACE43A5-1F05-DEFC-C695-67D8BEF3D98D}"/>
              </a:ext>
            </a:extLst>
          </p:cNvPr>
          <p:cNvSpPr txBox="1"/>
          <p:nvPr/>
        </p:nvSpPr>
        <p:spPr>
          <a:xfrm>
            <a:off x="4219426" y="1882831"/>
            <a:ext cx="4197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0070C0"/>
                </a:solidFill>
              </a:rPr>
              <a:t>(AGILE UNIFIED PROCESS)</a:t>
            </a:r>
            <a:endParaRPr lang="es-CL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/>
          <p:nvPr/>
        </p:nvSpPr>
        <p:spPr>
          <a:xfrm>
            <a:off x="3557016" y="630936"/>
            <a:ext cx="5235575" cy="5229225"/>
          </a:xfrm>
          <a:custGeom>
            <a:avLst/>
            <a:gdLst/>
            <a:ahLst/>
            <a:cxnLst/>
            <a:rect l="l" t="t" r="r" b="b"/>
            <a:pathLst>
              <a:path w="3298" h="3294" extrusionOk="0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" y="0"/>
            <a:ext cx="4695443" cy="6858000"/>
          </a:xfrm>
          <a:custGeom>
            <a:avLst/>
            <a:gdLst/>
            <a:ahLst/>
            <a:cxnLst/>
            <a:rect l="l" t="t" r="r" b="b"/>
            <a:pathLst>
              <a:path w="4992864" h="6858000" extrusionOk="0">
                <a:moveTo>
                  <a:pt x="0" y="0"/>
                </a:moveTo>
                <a:lnTo>
                  <a:pt x="4813476" y="0"/>
                </a:lnTo>
                <a:lnTo>
                  <a:pt x="4818239" y="66675"/>
                </a:lnTo>
                <a:lnTo>
                  <a:pt x="4826176" y="122237"/>
                </a:lnTo>
                <a:lnTo>
                  <a:pt x="4835701" y="174625"/>
                </a:lnTo>
                <a:lnTo>
                  <a:pt x="4851576" y="217487"/>
                </a:lnTo>
                <a:lnTo>
                  <a:pt x="4867451" y="260350"/>
                </a:lnTo>
                <a:lnTo>
                  <a:pt x="4886501" y="296862"/>
                </a:lnTo>
                <a:lnTo>
                  <a:pt x="4905551" y="334962"/>
                </a:lnTo>
                <a:lnTo>
                  <a:pt x="4923014" y="369887"/>
                </a:lnTo>
                <a:lnTo>
                  <a:pt x="4940476" y="409575"/>
                </a:lnTo>
                <a:lnTo>
                  <a:pt x="4956351" y="450850"/>
                </a:lnTo>
                <a:lnTo>
                  <a:pt x="4970639" y="496887"/>
                </a:lnTo>
                <a:lnTo>
                  <a:pt x="4981751" y="546100"/>
                </a:lnTo>
                <a:lnTo>
                  <a:pt x="4989689" y="606425"/>
                </a:lnTo>
                <a:lnTo>
                  <a:pt x="4992864" y="673100"/>
                </a:lnTo>
                <a:lnTo>
                  <a:pt x="4989689" y="744537"/>
                </a:lnTo>
                <a:lnTo>
                  <a:pt x="4981751" y="801687"/>
                </a:lnTo>
                <a:lnTo>
                  <a:pt x="4970639" y="854075"/>
                </a:lnTo>
                <a:lnTo>
                  <a:pt x="4956351" y="901700"/>
                </a:lnTo>
                <a:lnTo>
                  <a:pt x="4940476" y="942975"/>
                </a:lnTo>
                <a:lnTo>
                  <a:pt x="4921426" y="981075"/>
                </a:lnTo>
                <a:lnTo>
                  <a:pt x="4902376" y="1017587"/>
                </a:lnTo>
                <a:lnTo>
                  <a:pt x="4883326" y="1055687"/>
                </a:lnTo>
                <a:lnTo>
                  <a:pt x="4865864" y="1095375"/>
                </a:lnTo>
                <a:lnTo>
                  <a:pt x="4848401" y="1136650"/>
                </a:lnTo>
                <a:lnTo>
                  <a:pt x="4834114" y="1182687"/>
                </a:lnTo>
                <a:lnTo>
                  <a:pt x="4824589" y="1235075"/>
                </a:lnTo>
                <a:lnTo>
                  <a:pt x="4815064" y="1295400"/>
                </a:lnTo>
                <a:lnTo>
                  <a:pt x="4813476" y="1363662"/>
                </a:lnTo>
                <a:lnTo>
                  <a:pt x="4815064" y="1431925"/>
                </a:lnTo>
                <a:lnTo>
                  <a:pt x="4824589" y="1492250"/>
                </a:lnTo>
                <a:lnTo>
                  <a:pt x="4834114" y="1544637"/>
                </a:lnTo>
                <a:lnTo>
                  <a:pt x="4848401" y="1589087"/>
                </a:lnTo>
                <a:lnTo>
                  <a:pt x="4865864" y="1631950"/>
                </a:lnTo>
                <a:lnTo>
                  <a:pt x="4883326" y="1671637"/>
                </a:lnTo>
                <a:lnTo>
                  <a:pt x="4902376" y="1708150"/>
                </a:lnTo>
                <a:lnTo>
                  <a:pt x="4921426" y="1743075"/>
                </a:lnTo>
                <a:lnTo>
                  <a:pt x="4940476" y="1782762"/>
                </a:lnTo>
                <a:lnTo>
                  <a:pt x="4956351" y="1824037"/>
                </a:lnTo>
                <a:lnTo>
                  <a:pt x="4970639" y="1870075"/>
                </a:lnTo>
                <a:lnTo>
                  <a:pt x="4981751" y="1922462"/>
                </a:lnTo>
                <a:lnTo>
                  <a:pt x="4989689" y="1982787"/>
                </a:lnTo>
                <a:lnTo>
                  <a:pt x="4992864" y="2051050"/>
                </a:lnTo>
                <a:lnTo>
                  <a:pt x="4989689" y="2119312"/>
                </a:lnTo>
                <a:lnTo>
                  <a:pt x="4981751" y="2179637"/>
                </a:lnTo>
                <a:lnTo>
                  <a:pt x="4970639" y="2232025"/>
                </a:lnTo>
                <a:lnTo>
                  <a:pt x="4956351" y="2278062"/>
                </a:lnTo>
                <a:lnTo>
                  <a:pt x="4940476" y="2319337"/>
                </a:lnTo>
                <a:lnTo>
                  <a:pt x="4921426" y="2359025"/>
                </a:lnTo>
                <a:lnTo>
                  <a:pt x="4902376" y="2395537"/>
                </a:lnTo>
                <a:lnTo>
                  <a:pt x="4883326" y="2433637"/>
                </a:lnTo>
                <a:lnTo>
                  <a:pt x="4865864" y="2471737"/>
                </a:lnTo>
                <a:lnTo>
                  <a:pt x="4848401" y="2513012"/>
                </a:lnTo>
                <a:lnTo>
                  <a:pt x="4834114" y="2560637"/>
                </a:lnTo>
                <a:lnTo>
                  <a:pt x="4824589" y="2613025"/>
                </a:lnTo>
                <a:lnTo>
                  <a:pt x="4815064" y="2671762"/>
                </a:lnTo>
                <a:lnTo>
                  <a:pt x="4813476" y="2741612"/>
                </a:lnTo>
                <a:lnTo>
                  <a:pt x="4815064" y="2809875"/>
                </a:lnTo>
                <a:lnTo>
                  <a:pt x="4824589" y="2868612"/>
                </a:lnTo>
                <a:lnTo>
                  <a:pt x="4834114" y="2922587"/>
                </a:lnTo>
                <a:lnTo>
                  <a:pt x="4848401" y="2967037"/>
                </a:lnTo>
                <a:lnTo>
                  <a:pt x="4865864" y="3009900"/>
                </a:lnTo>
                <a:lnTo>
                  <a:pt x="4883326" y="3046412"/>
                </a:lnTo>
                <a:lnTo>
                  <a:pt x="4902376" y="3084512"/>
                </a:lnTo>
                <a:lnTo>
                  <a:pt x="4921426" y="3121025"/>
                </a:lnTo>
                <a:lnTo>
                  <a:pt x="4940476" y="3160712"/>
                </a:lnTo>
                <a:lnTo>
                  <a:pt x="4956351" y="3201987"/>
                </a:lnTo>
                <a:lnTo>
                  <a:pt x="4970639" y="3248025"/>
                </a:lnTo>
                <a:lnTo>
                  <a:pt x="4981751" y="3300412"/>
                </a:lnTo>
                <a:lnTo>
                  <a:pt x="4989689" y="3360737"/>
                </a:lnTo>
                <a:lnTo>
                  <a:pt x="4992864" y="3427412"/>
                </a:lnTo>
                <a:lnTo>
                  <a:pt x="4989689" y="3497262"/>
                </a:lnTo>
                <a:lnTo>
                  <a:pt x="4981751" y="3557587"/>
                </a:lnTo>
                <a:lnTo>
                  <a:pt x="4970639" y="3609975"/>
                </a:lnTo>
                <a:lnTo>
                  <a:pt x="4956351" y="3656012"/>
                </a:lnTo>
                <a:lnTo>
                  <a:pt x="4940476" y="3697287"/>
                </a:lnTo>
                <a:lnTo>
                  <a:pt x="4921426" y="3736975"/>
                </a:lnTo>
                <a:lnTo>
                  <a:pt x="4883326" y="3811587"/>
                </a:lnTo>
                <a:lnTo>
                  <a:pt x="4865864" y="3848100"/>
                </a:lnTo>
                <a:lnTo>
                  <a:pt x="4848401" y="3890962"/>
                </a:lnTo>
                <a:lnTo>
                  <a:pt x="4834114" y="3935412"/>
                </a:lnTo>
                <a:lnTo>
                  <a:pt x="4824589" y="3987800"/>
                </a:lnTo>
                <a:lnTo>
                  <a:pt x="4815064" y="4048125"/>
                </a:lnTo>
                <a:lnTo>
                  <a:pt x="4813476" y="4116387"/>
                </a:lnTo>
                <a:lnTo>
                  <a:pt x="4815064" y="4186237"/>
                </a:lnTo>
                <a:lnTo>
                  <a:pt x="4824589" y="4244975"/>
                </a:lnTo>
                <a:lnTo>
                  <a:pt x="4834114" y="4297362"/>
                </a:lnTo>
                <a:lnTo>
                  <a:pt x="4848401" y="4343400"/>
                </a:lnTo>
                <a:lnTo>
                  <a:pt x="4865864" y="4386262"/>
                </a:lnTo>
                <a:lnTo>
                  <a:pt x="4883326" y="4424362"/>
                </a:lnTo>
                <a:lnTo>
                  <a:pt x="4921426" y="4498975"/>
                </a:lnTo>
                <a:lnTo>
                  <a:pt x="4940476" y="4537075"/>
                </a:lnTo>
                <a:lnTo>
                  <a:pt x="4956351" y="4579937"/>
                </a:lnTo>
                <a:lnTo>
                  <a:pt x="4970639" y="4625975"/>
                </a:lnTo>
                <a:lnTo>
                  <a:pt x="4981751" y="4678362"/>
                </a:lnTo>
                <a:lnTo>
                  <a:pt x="4989689" y="4738687"/>
                </a:lnTo>
                <a:lnTo>
                  <a:pt x="4992864" y="4806950"/>
                </a:lnTo>
                <a:lnTo>
                  <a:pt x="4989689" y="4875212"/>
                </a:lnTo>
                <a:lnTo>
                  <a:pt x="4981751" y="4935537"/>
                </a:lnTo>
                <a:lnTo>
                  <a:pt x="4970639" y="4987925"/>
                </a:lnTo>
                <a:lnTo>
                  <a:pt x="4956351" y="5033962"/>
                </a:lnTo>
                <a:lnTo>
                  <a:pt x="4940476" y="5075237"/>
                </a:lnTo>
                <a:lnTo>
                  <a:pt x="4921426" y="5114925"/>
                </a:lnTo>
                <a:lnTo>
                  <a:pt x="4902376" y="5149850"/>
                </a:lnTo>
                <a:lnTo>
                  <a:pt x="4883326" y="5186362"/>
                </a:lnTo>
                <a:lnTo>
                  <a:pt x="4865864" y="5226050"/>
                </a:lnTo>
                <a:lnTo>
                  <a:pt x="4848401" y="5268912"/>
                </a:lnTo>
                <a:lnTo>
                  <a:pt x="4834114" y="5313362"/>
                </a:lnTo>
                <a:lnTo>
                  <a:pt x="4824589" y="5365750"/>
                </a:lnTo>
                <a:lnTo>
                  <a:pt x="4815064" y="5426075"/>
                </a:lnTo>
                <a:lnTo>
                  <a:pt x="4813476" y="5494337"/>
                </a:lnTo>
                <a:lnTo>
                  <a:pt x="4815064" y="5562600"/>
                </a:lnTo>
                <a:lnTo>
                  <a:pt x="4824589" y="5622925"/>
                </a:lnTo>
                <a:lnTo>
                  <a:pt x="4834114" y="5675312"/>
                </a:lnTo>
                <a:lnTo>
                  <a:pt x="4848401" y="5721350"/>
                </a:lnTo>
                <a:lnTo>
                  <a:pt x="4865864" y="5762625"/>
                </a:lnTo>
                <a:lnTo>
                  <a:pt x="4883326" y="5802312"/>
                </a:lnTo>
                <a:lnTo>
                  <a:pt x="4902376" y="5840412"/>
                </a:lnTo>
                <a:lnTo>
                  <a:pt x="4921426" y="5876925"/>
                </a:lnTo>
                <a:lnTo>
                  <a:pt x="4940476" y="5915025"/>
                </a:lnTo>
                <a:lnTo>
                  <a:pt x="4956351" y="5956300"/>
                </a:lnTo>
                <a:lnTo>
                  <a:pt x="4970639" y="6003925"/>
                </a:lnTo>
                <a:lnTo>
                  <a:pt x="4981751" y="6056312"/>
                </a:lnTo>
                <a:lnTo>
                  <a:pt x="4989689" y="6113462"/>
                </a:lnTo>
                <a:lnTo>
                  <a:pt x="4992864" y="6183312"/>
                </a:lnTo>
                <a:lnTo>
                  <a:pt x="4989689" y="6251575"/>
                </a:lnTo>
                <a:lnTo>
                  <a:pt x="4981751" y="6311900"/>
                </a:lnTo>
                <a:lnTo>
                  <a:pt x="4970639" y="6361112"/>
                </a:lnTo>
                <a:lnTo>
                  <a:pt x="4956351" y="6407150"/>
                </a:lnTo>
                <a:lnTo>
                  <a:pt x="4940476" y="6448425"/>
                </a:lnTo>
                <a:lnTo>
                  <a:pt x="4923014" y="6488112"/>
                </a:lnTo>
                <a:lnTo>
                  <a:pt x="4905551" y="6523037"/>
                </a:lnTo>
                <a:lnTo>
                  <a:pt x="4886501" y="6561137"/>
                </a:lnTo>
                <a:lnTo>
                  <a:pt x="4867451" y="6597650"/>
                </a:lnTo>
                <a:lnTo>
                  <a:pt x="4851576" y="6640512"/>
                </a:lnTo>
                <a:lnTo>
                  <a:pt x="4835701" y="6683375"/>
                </a:lnTo>
                <a:lnTo>
                  <a:pt x="4826176" y="6735762"/>
                </a:lnTo>
                <a:lnTo>
                  <a:pt x="4818239" y="6791325"/>
                </a:lnTo>
                <a:lnTo>
                  <a:pt x="48134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6"/>
          <p:cNvSpPr txBox="1">
            <a:spLocks noGrp="1"/>
          </p:cNvSpPr>
          <p:nvPr>
            <p:ph type="title"/>
          </p:nvPr>
        </p:nvSpPr>
        <p:spPr>
          <a:xfrm>
            <a:off x="-1" y="643464"/>
            <a:ext cx="4360985" cy="546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1A00"/>
              </a:buClr>
              <a:buSzPts val="1600"/>
              <a:buFont typeface="Impact"/>
              <a:buNone/>
            </a:pPr>
            <a:r>
              <a:rPr lang="es-MX" sz="1600">
                <a:solidFill>
                  <a:srgbClr val="2A1A00"/>
                </a:solidFill>
              </a:rPr>
              <a:t>FUNCIONALIDADES QUE EL SISTEMA DEBE PROPORCIONAR QUE PERMITEN COMPRENDER CÓMO FUNCIONARÁ EL SISTEMA </a:t>
            </a:r>
            <a:br>
              <a:rPr lang="es-MX" sz="1600">
                <a:solidFill>
                  <a:srgbClr val="2A1A00"/>
                </a:solidFill>
              </a:rPr>
            </a:br>
            <a:br>
              <a:rPr lang="es-MX" sz="1600">
                <a:solidFill>
                  <a:srgbClr val="2A1A00"/>
                </a:solidFill>
              </a:rPr>
            </a:br>
            <a:r>
              <a:rPr lang="es-MX" sz="1600">
                <a:solidFill>
                  <a:srgbClr val="2A1A00"/>
                </a:solidFill>
              </a:rPr>
              <a:t>CADA REQUISITO ES IDENTIFICADO CON UN CÓDIGO ÚNICO PARA GARANTIZAR SU TRAZABILIDAD.</a:t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0" y="129912"/>
            <a:ext cx="3737930" cy="285413"/>
          </a:xfrm>
          <a:prstGeom prst="homePlate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s-MX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REQUERIMIENTOS FUNCIONALES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3" name="Google Shape;183;p6"/>
          <p:cNvGraphicFramePr/>
          <p:nvPr/>
        </p:nvGraphicFramePr>
        <p:xfrm>
          <a:off x="4978907" y="382385"/>
          <a:ext cx="6448825" cy="6458195"/>
        </p:xfrm>
        <a:graphic>
          <a:graphicData uri="http://schemas.openxmlformats.org/drawingml/2006/table">
            <a:tbl>
              <a:tblPr>
                <a:noFill/>
                <a:tableStyleId>{8505C59E-0678-4586-86DD-07CB2BC6AF1A}</a:tableStyleId>
              </a:tblPr>
              <a:tblGrid>
                <a:gridCol w="188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Módulo</a:t>
                      </a:r>
                      <a:endParaRPr sz="2300" b="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Requisito</a:t>
                      </a:r>
                      <a:endParaRPr sz="2300" b="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Subfuncionalidades</a:t>
                      </a:r>
                      <a:endParaRPr sz="2300" b="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350">
                <a:tc row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Gestión de Usuarios</a:t>
                      </a:r>
                      <a:endParaRPr sz="19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RF-GU 1 Registro de usuarios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RF-GU 1.1 Ingreso de datos personales</a:t>
                      </a:r>
                      <a:endParaRPr sz="1100" b="0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RF-GU 1.2 Validación de datos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RF-GU 2 Autenticación y acceso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RF-GU 2.1 Inicio de sesión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RF-GU 2.2 Validación de credenciales 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RF-GU 2.3 Control por roles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RF-GU 3 Actualización de perfil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RF-GU 3.1 Edición de datos personales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RF-GU 3 .2Actualización de información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4350">
                <a:tc rowSpan="8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Gestión de Libros</a:t>
                      </a:r>
                      <a:endParaRPr sz="19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RF-GL 4 Registro de libros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RF-GL 4.1 Ingreso de datos del libro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RF-GL 4.2 Registro en inventario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RF-GL 5 Modificación de libros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RF-GL 5.1 Edición de información 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RF-GL 5.2 Actualización de datos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RF-GL 6 Baja de ejemplares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RF-GL 6.1 Eliminación de libros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RF-GL 6.2 Desactivación de libros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RF-GL 7 Gestión de ubicación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RF-GL 7.1 Asignación de ubicación física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RF-GL 7.2 Actualización de ubicación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4350">
                <a:tc row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Préstamos y Devoluciones</a:t>
                      </a:r>
                      <a:endParaRPr sz="19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RF-PD 8 Solicitud de préstamo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RF-PD 8.1 Registro de solicitud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RF-PD 8.2 Validación de disponibilidad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RF-PD 9 Consulta de préstamos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RF-PD 9.1 Visualización de préstamos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RF-PD 9.2 Filtros de búsqueda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RF-PD 10 Registro de préstamos y devoluciones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RF-PD 10.1 Registro de préstamo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RF-PD 10.2 Registro de devolución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RF-PD 11 Notificación de vencimientos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RF-PD 11.1 Envío de alertas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RF-PD 11.2 Recordatorios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RF-PD 12 Gestión de sanciones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RF-PD 12.1 Aplicación de sanciones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RF-PD 12.2 Bloqueo de usuarios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74350">
                <a:tc row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Catálogo en Línea</a:t>
                      </a:r>
                      <a:endParaRPr sz="19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RF-CL 13 Catálogo en línea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RF-CL 13.1 Búsqueda por criterios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RF-CL 13.2 Filtros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RF-CL 14 Disponibilidad de libros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RF-CL 15 Recomendación por calificación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RF-CL 15.1 Calificación de libros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RF-CL 15.2 Recomendaciones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7435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Reportes</a:t>
                      </a:r>
                      <a:endParaRPr sz="19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RF-RE 16 Reportes estadísticos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675" marR="44675" marT="22350" marB="223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RF-RE 16.1 Generación de reportes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7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RF-RE 16.2 Visualización de datos</a:t>
                      </a:r>
                      <a:endParaRPr sz="1100" b="1" i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725" marR="3725" marT="3725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/>
          <p:nvPr/>
        </p:nvSpPr>
        <p:spPr>
          <a:xfrm>
            <a:off x="0" y="129912"/>
            <a:ext cx="3737930" cy="285413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s-MX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REQUERIMIENTOS NO FUNCIONALES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 txBox="1">
            <a:spLocks noGrp="1"/>
          </p:cNvSpPr>
          <p:nvPr>
            <p:ph type="body" idx="1"/>
          </p:nvPr>
        </p:nvSpPr>
        <p:spPr>
          <a:xfrm>
            <a:off x="2851355" y="1730393"/>
            <a:ext cx="9242322" cy="3225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 sz="1400">
                <a:solidFill>
                  <a:schemeClr val="lt1"/>
                </a:solidFill>
              </a:rPr>
              <a:t>• USABILIDAD</a:t>
            </a:r>
            <a:r>
              <a:rPr lang="es-MX" sz="1400"/>
              <a:t>: INTERFAZ INTUITIVA Y FÁCIL DE USAR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</a:pPr>
            <a:br>
              <a:rPr lang="es-MX" sz="1400"/>
            </a:br>
            <a:r>
              <a:rPr lang="es-MX" sz="1400">
                <a:solidFill>
                  <a:schemeClr val="lt1"/>
                </a:solidFill>
              </a:rPr>
              <a:t>• ACCESIBILIDAD: </a:t>
            </a:r>
            <a:r>
              <a:rPr lang="es-MX" sz="1400"/>
              <a:t>ACCESO DESDE DISTINTOS DISPOSITIVO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</a:pPr>
            <a:br>
              <a:rPr lang="es-MX" sz="1400"/>
            </a:br>
            <a:r>
              <a:rPr lang="es-MX" sz="1400">
                <a:solidFill>
                  <a:schemeClr val="lt1"/>
                </a:solidFill>
              </a:rPr>
              <a:t>• SEGURIDAD: </a:t>
            </a:r>
            <a:r>
              <a:rPr lang="es-MX" sz="1400"/>
              <a:t>CONTROL DE ACCESO SEGÚN ROL DE USUARIO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</a:pPr>
            <a:br>
              <a:rPr lang="es-MX" sz="1400"/>
            </a:br>
            <a:r>
              <a:rPr lang="es-MX" sz="1400">
                <a:solidFill>
                  <a:schemeClr val="lt1"/>
                </a:solidFill>
              </a:rPr>
              <a:t>• DISPONIBILIDAD: </a:t>
            </a:r>
            <a:r>
              <a:rPr lang="es-MX" sz="1400"/>
              <a:t>SISTEMA ACCESIBLE DE FORMA CONTINUA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</a:pPr>
            <a:br>
              <a:rPr lang="es-MX" sz="1400"/>
            </a:br>
            <a:r>
              <a:rPr lang="es-MX" sz="1400">
                <a:solidFill>
                  <a:schemeClr val="lt1"/>
                </a:solidFill>
              </a:rPr>
              <a:t>• RENDIMIENTO: </a:t>
            </a:r>
            <a:r>
              <a:rPr lang="es-MX" sz="1400"/>
              <a:t>EL SISTEMA RESPONDE DE FORMA ÁGIL Y EIFICIENTE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</a:pPr>
            <a:br>
              <a:rPr lang="es-MX" sz="1400"/>
            </a:br>
            <a:r>
              <a:rPr lang="es-MX" sz="1400">
                <a:solidFill>
                  <a:schemeClr val="lt1"/>
                </a:solidFill>
              </a:rPr>
              <a:t>• RESPALDO: </a:t>
            </a:r>
            <a:r>
              <a:rPr lang="es-MX" sz="1400"/>
              <a:t>PROTECCIÓN Y ALMACENAMIENTO SEGURO DE DATOS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6" name="Google Shape;196;p8"/>
          <p:cNvSpPr txBox="1">
            <a:spLocks noGrp="1"/>
          </p:cNvSpPr>
          <p:nvPr>
            <p:ph type="body" idx="1"/>
          </p:nvPr>
        </p:nvSpPr>
        <p:spPr>
          <a:xfrm>
            <a:off x="283464" y="1370985"/>
            <a:ext cx="3678935" cy="410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MX">
                <a:solidFill>
                  <a:srgbClr val="002060"/>
                </a:solidFill>
              </a:rPr>
              <a:t>El diagrama de contexto muestra la interacción entre el sistema y sus actores. Cada uno envía información al sistema, como solicitudes o datos, y recibe como respuesta resultados de búsqueda, disponibilidad de libros y notificaciones. Además, se destacan las principales funcionalidades del sistema, como la gestión de usuarios, préstamos, catálogo en línea y generación de reportes.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</a:pPr>
            <a:endParaRPr sz="1200"/>
          </a:p>
        </p:txBody>
      </p:sp>
      <p:sp>
        <p:nvSpPr>
          <p:cNvPr id="197" name="Google Shape;197;p8"/>
          <p:cNvSpPr/>
          <p:nvPr/>
        </p:nvSpPr>
        <p:spPr>
          <a:xfrm>
            <a:off x="4038601" y="643467"/>
            <a:ext cx="7391400" cy="55649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-21065" y="126469"/>
            <a:ext cx="3737930" cy="285413"/>
          </a:xfrm>
          <a:prstGeom prst="homePlate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s-MX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CONTEXTO GENERAL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8"/>
          <p:cNvPicPr preferRelativeResize="0"/>
          <p:nvPr/>
        </p:nvPicPr>
        <p:blipFill rotWithShape="1">
          <a:blip r:embed="rId3">
            <a:alphaModFix/>
          </a:blip>
          <a:srcRect l="8263" t="3646" r="9398" b="12035"/>
          <a:stretch/>
        </p:blipFill>
        <p:spPr>
          <a:xfrm>
            <a:off x="4038597" y="643467"/>
            <a:ext cx="7391399" cy="5564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 txBox="1">
            <a:spLocks noGrp="1"/>
          </p:cNvSpPr>
          <p:nvPr>
            <p:ph type="body" idx="1"/>
          </p:nvPr>
        </p:nvSpPr>
        <p:spPr>
          <a:xfrm>
            <a:off x="1777181" y="1064242"/>
            <a:ext cx="4800600" cy="24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MX" b="1">
                <a:solidFill>
                  <a:srgbClr val="CD8D06"/>
                </a:solidFill>
              </a:rPr>
              <a:t>Mejoras propuestas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</a:pPr>
            <a:r>
              <a:rPr lang="es-MX"/>
              <a:t>Respaldo automático de la información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</a:pPr>
            <a:r>
              <a:rPr lang="es-MX"/>
              <a:t>Trazabilidad de préstamos y devoluciones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</a:pPr>
            <a:r>
              <a:rPr lang="es-MX"/>
              <a:t>Mejora en accesibilidad del sistema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</a:pPr>
            <a:r>
              <a:rPr lang="es-MX"/>
              <a:t>Optimización de tiempos de respuesta</a:t>
            </a:r>
            <a:endParaRPr/>
          </a:p>
        </p:txBody>
      </p:sp>
      <p:sp>
        <p:nvSpPr>
          <p:cNvPr id="205" name="Google Shape;205;p9"/>
          <p:cNvSpPr txBox="1">
            <a:spLocks noGrp="1"/>
          </p:cNvSpPr>
          <p:nvPr>
            <p:ph type="body" idx="2"/>
          </p:nvPr>
        </p:nvSpPr>
        <p:spPr>
          <a:xfrm>
            <a:off x="7235312" y="2072049"/>
            <a:ext cx="4052119" cy="2817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MX" b="1">
                <a:solidFill>
                  <a:srgbClr val="CD8D06"/>
                </a:solidFill>
              </a:rPr>
              <a:t>Beneficios para la gestión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</a:pPr>
            <a:r>
              <a:rPr lang="es-MX"/>
              <a:t>Reduce errores en el registro de información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</a:pPr>
            <a:r>
              <a:rPr lang="es-MX"/>
              <a:t>Evita pérdida de datos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</a:pPr>
            <a:r>
              <a:rPr lang="es-MX"/>
              <a:t>Permite seguimiento de préstamos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</a:pPr>
            <a:r>
              <a:rPr lang="es-MX"/>
              <a:t>Mejora la experiencia del usuario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Char char="•"/>
            </a:pPr>
            <a:r>
              <a:rPr lang="es-MX"/>
              <a:t>Aumenta la eficiencia del sistema</a:t>
            </a:r>
            <a:endParaRPr/>
          </a:p>
          <a:p>
            <a:pPr marL="228600" lvl="0" indent="-10160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06" name="Google Shape;206;p9"/>
          <p:cNvSpPr txBox="1"/>
          <p:nvPr/>
        </p:nvSpPr>
        <p:spPr>
          <a:xfrm>
            <a:off x="1777181" y="4306529"/>
            <a:ext cx="48006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CD8D06"/>
                </a:solidFill>
                <a:latin typeface="Gill Sans"/>
                <a:ea typeface="Gill Sans"/>
                <a:cs typeface="Gill Sans"/>
                <a:sym typeface="Gill Sans"/>
              </a:rPr>
              <a:t>La importancia de una adecuada definición de requisitos, el trabajo en equipo y el uso de una metodología apropiada, junto con la comprensión del problema, permiten desarrollar una solución efectiva.</a:t>
            </a:r>
            <a:endParaRPr sz="2000" b="1">
              <a:solidFill>
                <a:srgbClr val="CD8D0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0" y="132719"/>
            <a:ext cx="3737930" cy="285413"/>
          </a:xfrm>
          <a:prstGeom prst="homePlate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182875" bIns="0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s-MX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CONTEXTO GENERAL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>
            <a:spLocks noGrp="1"/>
          </p:cNvSpPr>
          <p:nvPr>
            <p:ph type="title"/>
          </p:nvPr>
        </p:nvSpPr>
        <p:spPr>
          <a:xfrm>
            <a:off x="995006" y="2868946"/>
            <a:ext cx="3208026" cy="112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mpact"/>
              <a:buNone/>
            </a:pPr>
            <a:r>
              <a:rPr lang="es-MX" sz="4000"/>
              <a:t>CONCLUSIÓN</a:t>
            </a:r>
            <a:endParaRPr/>
          </a:p>
        </p:txBody>
      </p:sp>
      <p:grpSp>
        <p:nvGrpSpPr>
          <p:cNvPr id="213" name="Google Shape;213;p10"/>
          <p:cNvGrpSpPr/>
          <p:nvPr/>
        </p:nvGrpSpPr>
        <p:grpSpPr>
          <a:xfrm>
            <a:off x="4203032" y="320450"/>
            <a:ext cx="7443536" cy="6225121"/>
            <a:chOff x="0" y="15649"/>
            <a:chExt cx="7443536" cy="6225121"/>
          </a:xfrm>
        </p:grpSpPr>
        <p:sp>
          <p:nvSpPr>
            <p:cNvPr id="214" name="Google Shape;214;p10"/>
            <p:cNvSpPr/>
            <p:nvPr/>
          </p:nvSpPr>
          <p:spPr>
            <a:xfrm>
              <a:off x="0" y="192769"/>
              <a:ext cx="7443536" cy="68040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D26D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0"/>
            <p:cNvSpPr txBox="1"/>
            <p:nvPr/>
          </p:nvSpPr>
          <p:spPr>
            <a:xfrm>
              <a:off x="0" y="192769"/>
              <a:ext cx="7443536" cy="68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7700" tIns="249925" rIns="577700" bIns="85325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Gill Sans"/>
                <a:buNone/>
              </a:pPr>
              <a:r>
                <a:rPr lang="es-MX" sz="12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La biblioteca UNILIB presenta problemas en la gestión debido a procesos manuales, por lo que se</a:t>
              </a:r>
              <a:endPara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Gill Sans"/>
                <a:buNone/>
              </a:pPr>
              <a:r>
                <a:rPr lang="es-MX" sz="12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propone un sistema que permita optimizar y digitalizar sus operaciones.</a:t>
              </a:r>
              <a:endPara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372176" y="15649"/>
              <a:ext cx="5210475" cy="354240"/>
            </a:xfrm>
            <a:prstGeom prst="roundRect">
              <a:avLst>
                <a:gd name="adj" fmla="val 16667"/>
              </a:avLst>
            </a:prstGeom>
            <a:solidFill>
              <a:srgbClr val="D26D66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0"/>
            <p:cNvSpPr txBox="1"/>
            <p:nvPr/>
          </p:nvSpPr>
          <p:spPr>
            <a:xfrm>
              <a:off x="389469" y="32942"/>
              <a:ext cx="5175889" cy="3196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6925" tIns="0" rIns="1969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Gill Sans"/>
                <a:buNone/>
              </a:pPr>
              <a:r>
                <a:rPr lang="es-MX" sz="1200" cap="non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CASO</a:t>
              </a:r>
              <a:endParaRPr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0" y="1115089"/>
              <a:ext cx="7443536" cy="86940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B8C46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0"/>
            <p:cNvSpPr txBox="1"/>
            <p:nvPr/>
          </p:nvSpPr>
          <p:spPr>
            <a:xfrm>
              <a:off x="0" y="1115089"/>
              <a:ext cx="7443536" cy="8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7700" tIns="249925" rIns="577700" bIns="85325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Gill Sans"/>
                <a:buNone/>
              </a:pPr>
              <a:r>
                <a:rPr lang="es-MX" sz="12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El proyecto permitió identificar problemas en la gestión bibliotecaria y definir requisitos claros.</a:t>
              </a:r>
              <a:endPara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Gill Sans"/>
                <a:buNone/>
              </a:pPr>
              <a:r>
                <a:rPr lang="es-MX" sz="12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Mediante la metodología AUP, se desarrolló una solución organizada que mejora la eficiencia del</a:t>
              </a:r>
              <a:endPara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Gill Sans"/>
                <a:buNone/>
              </a:pPr>
              <a:r>
                <a:rPr lang="es-MX" sz="12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sistema y la experiencia de los usuarios.</a:t>
              </a:r>
              <a:endPara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372176" y="937970"/>
              <a:ext cx="5210475" cy="354240"/>
            </a:xfrm>
            <a:prstGeom prst="roundRect">
              <a:avLst>
                <a:gd name="adj" fmla="val 16667"/>
              </a:avLst>
            </a:prstGeom>
            <a:solidFill>
              <a:srgbClr val="B8C463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0"/>
            <p:cNvSpPr txBox="1"/>
            <p:nvPr/>
          </p:nvSpPr>
          <p:spPr>
            <a:xfrm>
              <a:off x="389469" y="955263"/>
              <a:ext cx="5175889" cy="3196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6925" tIns="0" rIns="1969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Gill Sans"/>
                <a:buNone/>
              </a:pPr>
              <a:r>
                <a:rPr lang="es-MX" sz="1200" cap="non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SÍNTESIS</a:t>
              </a:r>
              <a:endParaRPr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0" y="2226409"/>
              <a:ext cx="7443536" cy="105840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60B66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0"/>
            <p:cNvSpPr txBox="1"/>
            <p:nvPr/>
          </p:nvSpPr>
          <p:spPr>
            <a:xfrm>
              <a:off x="0" y="2226409"/>
              <a:ext cx="7443536" cy="105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7700" tIns="249925" rIns="577700" bIns="85325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Gill Sans"/>
                <a:buNone/>
              </a:pPr>
              <a:r>
                <a:rPr lang="es-MX" sz="12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• Procesos manuales generan ineficiencia</a:t>
              </a:r>
              <a:endPara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Gill Sans"/>
                <a:buNone/>
              </a:pPr>
              <a:r>
                <a:rPr lang="es-MX" sz="12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• Falta de acceso rápido a la información</a:t>
              </a:r>
              <a:endPara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Gill Sans"/>
                <a:buNone/>
              </a:pPr>
              <a:r>
                <a:rPr lang="es-MX" sz="12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• Necesidad de digitalizar la gestión bibliotecaria</a:t>
              </a:r>
              <a:endPara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Gill Sans"/>
                <a:buNone/>
              </a:pPr>
              <a:r>
                <a:rPr lang="es-MX" sz="12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• Importancia de un sistema centralizado</a:t>
              </a:r>
              <a:endPara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372176" y="2049290"/>
              <a:ext cx="5210475" cy="354240"/>
            </a:xfrm>
            <a:prstGeom prst="roundRect">
              <a:avLst>
                <a:gd name="adj" fmla="val 16667"/>
              </a:avLst>
            </a:prstGeom>
            <a:solidFill>
              <a:srgbClr val="60B66F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0"/>
            <p:cNvSpPr txBox="1"/>
            <p:nvPr/>
          </p:nvSpPr>
          <p:spPr>
            <a:xfrm>
              <a:off x="389469" y="2066583"/>
              <a:ext cx="5175889" cy="3196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6925" tIns="0" rIns="1969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Gill Sans"/>
                <a:buNone/>
              </a:pPr>
              <a:r>
                <a:rPr lang="es-MX" sz="1200" cap="non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HALLAZGOS PRINCIPALES</a:t>
              </a:r>
              <a:endParaRPr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0" y="3526730"/>
              <a:ext cx="7443536" cy="68040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5E94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0"/>
            <p:cNvSpPr txBox="1"/>
            <p:nvPr/>
          </p:nvSpPr>
          <p:spPr>
            <a:xfrm>
              <a:off x="0" y="3526730"/>
              <a:ext cx="7443536" cy="68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7700" tIns="249925" rIns="577700" bIns="85325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Gill Sans"/>
                <a:buNone/>
              </a:pPr>
              <a:r>
                <a:rPr lang="es-MX" sz="12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La definición clara de requisitos permite entender correctamente el sistema, evitar errores durante el</a:t>
              </a:r>
              <a:endPara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Gill Sans"/>
                <a:buNone/>
              </a:pPr>
              <a:r>
                <a:rPr lang="es-MX" sz="12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desarrollo y asegurar que la solución responda a las necesidades del usuario.</a:t>
              </a:r>
              <a:endPara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372176" y="3349610"/>
              <a:ext cx="5210475" cy="354240"/>
            </a:xfrm>
            <a:prstGeom prst="roundRect">
              <a:avLst>
                <a:gd name="adj" fmla="val 16667"/>
              </a:avLst>
            </a:prstGeom>
            <a:solidFill>
              <a:srgbClr val="5E94A6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 txBox="1"/>
            <p:nvPr/>
          </p:nvSpPr>
          <p:spPr>
            <a:xfrm>
              <a:off x="389469" y="3366903"/>
              <a:ext cx="5175889" cy="3196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6925" tIns="0" rIns="1969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Gill Sans"/>
                <a:buNone/>
              </a:pPr>
              <a:r>
                <a:rPr lang="es-MX" sz="1200" cap="non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IMPORTANCIA DE REQUISITOS CLAROS</a:t>
              </a:r>
              <a:endParaRPr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0" y="4449049"/>
              <a:ext cx="7443536" cy="68040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7060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0"/>
            <p:cNvSpPr txBox="1"/>
            <p:nvPr/>
          </p:nvSpPr>
          <p:spPr>
            <a:xfrm>
              <a:off x="0" y="4449049"/>
              <a:ext cx="7443536" cy="68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7700" tIns="249925" rIns="577700" bIns="85325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Gill Sans"/>
                <a:buNone/>
              </a:pPr>
              <a:r>
                <a:rPr lang="es-MX" sz="12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La correcta definición del proyecto y el uso de una metodología adecuada permiten cumplir los</a:t>
              </a:r>
              <a:endPara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Gill Sans"/>
                <a:buNone/>
              </a:pPr>
              <a:r>
                <a:rPr lang="es-MX" sz="12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objetivos, reducir errores y asegurar una implementación exitosa del sistema.</a:t>
              </a:r>
              <a:endPara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372176" y="4271930"/>
              <a:ext cx="5210475" cy="354240"/>
            </a:xfrm>
            <a:prstGeom prst="roundRect">
              <a:avLst>
                <a:gd name="adj" fmla="val 16667"/>
              </a:avLst>
            </a:prstGeom>
            <a:solidFill>
              <a:srgbClr val="706093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0"/>
            <p:cNvSpPr txBox="1"/>
            <p:nvPr/>
          </p:nvSpPr>
          <p:spPr>
            <a:xfrm>
              <a:off x="389469" y="4289223"/>
              <a:ext cx="5175889" cy="3196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6925" tIns="0" rIns="1969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Gill Sans"/>
                <a:buNone/>
              </a:pPr>
              <a:r>
                <a:rPr lang="es-MX" sz="1200" cap="non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IMPACTO EN EL ÉXITO DEL PROYECTO</a:t>
              </a:r>
              <a:endParaRPr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4" name="Google Shape;234;p10"/>
            <p:cNvSpPr/>
            <p:nvPr/>
          </p:nvSpPr>
          <p:spPr>
            <a:xfrm>
              <a:off x="0" y="5371370"/>
              <a:ext cx="7443536" cy="86940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7F62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0"/>
            <p:cNvSpPr txBox="1"/>
            <p:nvPr/>
          </p:nvSpPr>
          <p:spPr>
            <a:xfrm>
              <a:off x="0" y="5371370"/>
              <a:ext cx="7443536" cy="8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7700" tIns="249925" rIns="577700" bIns="85325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Gill Sans"/>
                <a:buNone/>
              </a:pPr>
              <a:r>
                <a:rPr lang="es-MX" sz="12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El sistema aporta valor al negocio al optimizar la gestión de la biblioteca, reducir los tiempos de</a:t>
              </a:r>
              <a:endPara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Gill Sans"/>
                <a:buNone/>
              </a:pPr>
              <a:r>
                <a:rPr lang="es-MX" sz="12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atención y mejorar el acceso a la información.</a:t>
              </a:r>
              <a:endPara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Gill Sans"/>
                <a:buNone/>
              </a:pPr>
              <a:r>
                <a:rPr lang="es-MX" sz="1200" b="0" i="0" u="none" strike="noStrike" cap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Además, disminuye errores en los procesos y mejora la experiencia de los usuarios.</a:t>
              </a:r>
              <a:endPara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6" name="Google Shape;236;p10"/>
            <p:cNvSpPr/>
            <p:nvPr/>
          </p:nvSpPr>
          <p:spPr>
            <a:xfrm>
              <a:off x="372176" y="5194250"/>
              <a:ext cx="5210475" cy="354240"/>
            </a:xfrm>
            <a:prstGeom prst="roundRect">
              <a:avLst>
                <a:gd name="adj" fmla="val 16667"/>
              </a:avLst>
            </a:prstGeom>
            <a:solidFill>
              <a:srgbClr val="7F6275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0"/>
            <p:cNvSpPr txBox="1"/>
            <p:nvPr/>
          </p:nvSpPr>
          <p:spPr>
            <a:xfrm>
              <a:off x="389469" y="5211543"/>
              <a:ext cx="5175889" cy="3196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6925" tIns="0" rIns="1969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Gill Sans"/>
                <a:buNone/>
              </a:pPr>
              <a:r>
                <a:rPr lang="es-MX" sz="1200" cap="non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APORTE DEL SISTEMA AL NEGOCIO</a:t>
              </a:r>
              <a:endParaRPr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istintivo">
  <a:themeElements>
    <a:clrScheme name="Distintivo">
      <a:dk1>
        <a:srgbClr val="000000"/>
      </a:dk1>
      <a:lt1>
        <a:srgbClr val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tintivo">
  <a:themeElements>
    <a:clrScheme name="Distintivo">
      <a:dk1>
        <a:srgbClr val="000000"/>
      </a:dk1>
      <a:lt1>
        <a:srgbClr val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985</Words>
  <Application>Microsoft Office PowerPoint</Application>
  <PresentationFormat>Panorámica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Gill Sans</vt:lpstr>
      <vt:lpstr>Impact</vt:lpstr>
      <vt:lpstr>Calibri</vt:lpstr>
      <vt:lpstr>Cambria</vt:lpstr>
      <vt:lpstr>Noto Sans Symbols</vt:lpstr>
      <vt:lpstr>Arial</vt:lpstr>
      <vt:lpstr>Distintivo</vt:lpstr>
      <vt:lpstr>Distintivo</vt:lpstr>
      <vt:lpstr>INFORME DE PLANIFICACIÓN Y REQUERIMIENTOS  EXPERIENCIA 1 FECHA DE ENTREGA: 16-04-2026   </vt:lpstr>
      <vt:lpstr>LA BIBLIOTECA DE LA UNIVERSIDAD UNILIB PRESENTA PROBLEMAS DEBIDO A PROCESOS MANUALES, LO QUE GENERA INEFICIENCIA EN LA GESTIÓN DE LA INFORMACIÓN Y EN LA ATENCIÓN DE LOS USUARIOS.</vt:lpstr>
      <vt:lpstr>Presentación de PowerPoint</vt:lpstr>
      <vt:lpstr>Presentación de PowerPoint</vt:lpstr>
      <vt:lpstr>A.U.P</vt:lpstr>
      <vt:lpstr>FUNCIONALIDADES QUE EL SISTEMA DEBE PROPORCIONAR QUE PERMITEN COMPRENDER CÓMO FUNCIONARÁ EL SISTEMA   CADA REQUISITO ES IDENTIFICADO CON UN CÓDIGO ÚNICO PARA GARANTIZAR SU TRAZABILIDAD.</vt:lpstr>
      <vt:lpstr>Presentación de PowerPoint</vt:lpstr>
      <vt:lpstr>Presentación de PowerPoint</vt:lpstr>
      <vt:lpstr>Presentación de PowerPoint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DANIELA MATILDE DEL CARMEN CASTILLO TRUJILLO</dc:creator>
  <cp:lastModifiedBy>DANIELA MATILDE DEL CARMEN CASTILLO TRUJILLO</cp:lastModifiedBy>
  <cp:revision>3</cp:revision>
  <dcterms:created xsi:type="dcterms:W3CDTF">2026-04-16T00:43:03Z</dcterms:created>
  <dcterms:modified xsi:type="dcterms:W3CDTF">2026-04-19T02:19:13Z</dcterms:modified>
</cp:coreProperties>
</file>